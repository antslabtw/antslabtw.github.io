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2"/>
  </p:notesMasterIdLst>
  <p:sldIdLst>
    <p:sldId id="256" r:id="rId2"/>
    <p:sldId id="331" r:id="rId3"/>
    <p:sldId id="321" r:id="rId4"/>
    <p:sldId id="260" r:id="rId5"/>
    <p:sldId id="261" r:id="rId6"/>
    <p:sldId id="263" r:id="rId7"/>
    <p:sldId id="264" r:id="rId8"/>
    <p:sldId id="266" r:id="rId9"/>
    <p:sldId id="328" r:id="rId10"/>
    <p:sldId id="329" r:id="rId11"/>
    <p:sldId id="330" r:id="rId12"/>
    <p:sldId id="327" r:id="rId13"/>
    <p:sldId id="322" r:id="rId14"/>
    <p:sldId id="323" r:id="rId15"/>
    <p:sldId id="325" r:id="rId16"/>
    <p:sldId id="326" r:id="rId17"/>
    <p:sldId id="294" r:id="rId18"/>
    <p:sldId id="295" r:id="rId19"/>
    <p:sldId id="296" r:id="rId20"/>
    <p:sldId id="297" r:id="rId21"/>
    <p:sldId id="298" r:id="rId22"/>
    <p:sldId id="299" r:id="rId23"/>
    <p:sldId id="301" r:id="rId24"/>
    <p:sldId id="303" r:id="rId25"/>
    <p:sldId id="315" r:id="rId26"/>
    <p:sldId id="316" r:id="rId27"/>
    <p:sldId id="317" r:id="rId28"/>
    <p:sldId id="309" r:id="rId29"/>
    <p:sldId id="311" r:id="rId30"/>
    <p:sldId id="313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522"/>
    <a:srgbClr val="4FC3F7"/>
    <a:srgbClr val="F2F2F2"/>
    <a:srgbClr val="FF9999"/>
    <a:srgbClr val="B9FFAF"/>
    <a:srgbClr val="303030"/>
    <a:srgbClr val="FFCCCC"/>
    <a:srgbClr val="A5D6A7"/>
    <a:srgbClr val="90A4AE"/>
    <a:srgbClr val="B39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99" autoAdjust="0"/>
    <p:restoredTop sz="73131" autoAdjust="0"/>
  </p:normalViewPr>
  <p:slideViewPr>
    <p:cSldViewPr snapToGrid="0">
      <p:cViewPr varScale="1">
        <p:scale>
          <a:sx n="63" d="100"/>
          <a:sy n="63" d="100"/>
        </p:scale>
        <p:origin x="1877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葶 吳" userId="c38ae95efd62ece6" providerId="LiveId" clId="{3F64E119-DCE9-4FBF-9A12-51AEC4A54BF4}"/>
    <pc:docChg chg="undo redo custSel modSld">
      <pc:chgData name="昱葶 吳" userId="c38ae95efd62ece6" providerId="LiveId" clId="{3F64E119-DCE9-4FBF-9A12-51AEC4A54BF4}" dt="2025-10-20T18:12:21.544" v="5913" actId="20577"/>
      <pc:docMkLst>
        <pc:docMk/>
      </pc:docMkLst>
      <pc:sldChg chg="modNotesTx">
        <pc:chgData name="昱葶 吳" userId="c38ae95efd62ece6" providerId="LiveId" clId="{3F64E119-DCE9-4FBF-9A12-51AEC4A54BF4}" dt="2025-10-20T17:35:54.438" v="5556" actId="20577"/>
        <pc:sldMkLst>
          <pc:docMk/>
          <pc:sldMk cId="1943224751" sldId="256"/>
        </pc:sldMkLst>
      </pc:sldChg>
      <pc:sldChg chg="delSp modSp mod modNotesTx">
        <pc:chgData name="昱葶 吳" userId="c38ae95efd62ece6" providerId="LiveId" clId="{3F64E119-DCE9-4FBF-9A12-51AEC4A54BF4}" dt="2025-10-20T15:30:26.513" v="1278" actId="20577"/>
        <pc:sldMkLst>
          <pc:docMk/>
          <pc:sldMk cId="1780697075" sldId="260"/>
        </pc:sldMkLst>
        <pc:spChg chg="del mod">
          <ac:chgData name="昱葶 吳" userId="c38ae95efd62ece6" providerId="LiveId" clId="{3F64E119-DCE9-4FBF-9A12-51AEC4A54BF4}" dt="2025-10-20T15:01:48.702" v="844" actId="478"/>
          <ac:spMkLst>
            <pc:docMk/>
            <pc:sldMk cId="1780697075" sldId="260"/>
            <ac:spMk id="15" creationId="{3D2BD2DD-77D8-2D0E-4ECA-B96CA13DD79E}"/>
          </ac:spMkLst>
        </pc:spChg>
      </pc:sldChg>
      <pc:sldChg chg="delSp mod modNotesTx">
        <pc:chgData name="昱葶 吳" userId="c38ae95efd62ece6" providerId="LiveId" clId="{3F64E119-DCE9-4FBF-9A12-51AEC4A54BF4}" dt="2025-10-20T18:04:08.729" v="5852" actId="20577"/>
        <pc:sldMkLst>
          <pc:docMk/>
          <pc:sldMk cId="3181005658" sldId="261"/>
        </pc:sldMkLst>
        <pc:spChg chg="del">
          <ac:chgData name="昱葶 吳" userId="c38ae95efd62ece6" providerId="LiveId" clId="{3F64E119-DCE9-4FBF-9A12-51AEC4A54BF4}" dt="2025-10-20T15:01:54.882" v="845" actId="478"/>
          <ac:spMkLst>
            <pc:docMk/>
            <pc:sldMk cId="3181005658" sldId="261"/>
            <ac:spMk id="15" creationId="{635926FC-CFA6-E206-C449-5A52FE534329}"/>
          </ac:spMkLst>
        </pc:spChg>
      </pc:sldChg>
      <pc:sldChg chg="delSp mod modNotesTx">
        <pc:chgData name="昱葶 吳" userId="c38ae95efd62ece6" providerId="LiveId" clId="{3F64E119-DCE9-4FBF-9A12-51AEC4A54BF4}" dt="2025-10-20T18:12:21.544" v="5913" actId="20577"/>
        <pc:sldMkLst>
          <pc:docMk/>
          <pc:sldMk cId="22395924" sldId="263"/>
        </pc:sldMkLst>
        <pc:spChg chg="del">
          <ac:chgData name="昱葶 吳" userId="c38ae95efd62ece6" providerId="LiveId" clId="{3F64E119-DCE9-4FBF-9A12-51AEC4A54BF4}" dt="2025-10-20T15:03:52.977" v="886" actId="478"/>
          <ac:spMkLst>
            <pc:docMk/>
            <pc:sldMk cId="22395924" sldId="263"/>
            <ac:spMk id="15" creationId="{8AD85DEE-0BDC-E923-CF74-203B4CD2976C}"/>
          </ac:spMkLst>
        </pc:spChg>
      </pc:sldChg>
      <pc:sldChg chg="modNotesTx">
        <pc:chgData name="昱葶 吳" userId="c38ae95efd62ece6" providerId="LiveId" clId="{3F64E119-DCE9-4FBF-9A12-51AEC4A54BF4}" dt="2025-10-20T16:23:33.352" v="2295" actId="20577"/>
        <pc:sldMkLst>
          <pc:docMk/>
          <pc:sldMk cId="3832422814" sldId="266"/>
        </pc:sldMkLst>
      </pc:sldChg>
      <pc:sldChg chg="delSp mod modNotesTx">
        <pc:chgData name="昱葶 吳" userId="c38ae95efd62ece6" providerId="LiveId" clId="{3F64E119-DCE9-4FBF-9A12-51AEC4A54BF4}" dt="2025-10-20T16:40:07.348" v="3895" actId="20577"/>
        <pc:sldMkLst>
          <pc:docMk/>
          <pc:sldMk cId="3932499433" sldId="296"/>
        </pc:sldMkLst>
        <pc:spChg chg="del">
          <ac:chgData name="昱葶 吳" userId="c38ae95efd62ece6" providerId="LiveId" clId="{3F64E119-DCE9-4FBF-9A12-51AEC4A54BF4}" dt="2025-10-20T16:39:24.202" v="3860" actId="478"/>
          <ac:spMkLst>
            <pc:docMk/>
            <pc:sldMk cId="3932499433" sldId="296"/>
            <ac:spMk id="15" creationId="{DE643944-0F18-B2E3-4460-D73CA1BDA88D}"/>
          </ac:spMkLst>
        </pc:spChg>
      </pc:sldChg>
      <pc:sldChg chg="delSp mod modNotesTx">
        <pc:chgData name="昱葶 吳" userId="c38ae95efd62ece6" providerId="LiveId" clId="{3F64E119-DCE9-4FBF-9A12-51AEC4A54BF4}" dt="2025-10-20T16:44:45.919" v="4204" actId="478"/>
        <pc:sldMkLst>
          <pc:docMk/>
          <pc:sldMk cId="754280937" sldId="297"/>
        </pc:sldMkLst>
        <pc:spChg chg="del">
          <ac:chgData name="昱葶 吳" userId="c38ae95efd62ece6" providerId="LiveId" clId="{3F64E119-DCE9-4FBF-9A12-51AEC4A54BF4}" dt="2025-10-20T16:44:45.919" v="4204" actId="478"/>
          <ac:spMkLst>
            <pc:docMk/>
            <pc:sldMk cId="754280937" sldId="297"/>
            <ac:spMk id="16" creationId="{1F6B46CE-211F-CE3A-BD43-25DA49B05A3F}"/>
          </ac:spMkLst>
        </pc:spChg>
      </pc:sldChg>
      <pc:sldChg chg="modSp mod modNotesTx">
        <pc:chgData name="昱葶 吳" userId="c38ae95efd62ece6" providerId="LiveId" clId="{3F64E119-DCE9-4FBF-9A12-51AEC4A54BF4}" dt="2025-10-20T16:49:24.435" v="4557" actId="20577"/>
        <pc:sldMkLst>
          <pc:docMk/>
          <pc:sldMk cId="2983593552" sldId="298"/>
        </pc:sldMkLst>
        <pc:graphicFrameChg chg="modGraphic">
          <ac:chgData name="昱葶 吳" userId="c38ae95efd62ece6" providerId="LiveId" clId="{3F64E119-DCE9-4FBF-9A12-51AEC4A54BF4}" dt="2025-10-20T16:48:47.142" v="4508" actId="20577"/>
          <ac:graphicFrameMkLst>
            <pc:docMk/>
            <pc:sldMk cId="2983593552" sldId="298"/>
            <ac:graphicFrameMk id="6" creationId="{9B700119-FC13-5958-5259-D48CCB7B1376}"/>
          </ac:graphicFrameMkLst>
        </pc:graphicFrameChg>
      </pc:sldChg>
      <pc:sldChg chg="delSp modSp mod modNotesTx">
        <pc:chgData name="昱葶 吳" userId="c38ae95efd62ece6" providerId="LiveId" clId="{3F64E119-DCE9-4FBF-9A12-51AEC4A54BF4}" dt="2025-10-20T16:57:15.987" v="4715" actId="20577"/>
        <pc:sldMkLst>
          <pc:docMk/>
          <pc:sldMk cId="3229380352" sldId="299"/>
        </pc:sldMkLst>
        <pc:spChg chg="del mod">
          <ac:chgData name="昱葶 吳" userId="c38ae95efd62ece6" providerId="LiveId" clId="{3F64E119-DCE9-4FBF-9A12-51AEC4A54BF4}" dt="2025-10-20T16:49:50.518" v="4560" actId="478"/>
          <ac:spMkLst>
            <pc:docMk/>
            <pc:sldMk cId="3229380352" sldId="299"/>
            <ac:spMk id="14" creationId="{FE0C896B-83AF-430D-A7DF-057EC6621AC9}"/>
          </ac:spMkLst>
        </pc:spChg>
      </pc:sldChg>
      <pc:sldChg chg="modNotesTx">
        <pc:chgData name="昱葶 吳" userId="c38ae95efd62ece6" providerId="LiveId" clId="{3F64E119-DCE9-4FBF-9A12-51AEC4A54BF4}" dt="2025-10-20T16:58:30.415" v="4742" actId="20577"/>
        <pc:sldMkLst>
          <pc:docMk/>
          <pc:sldMk cId="3602635516" sldId="301"/>
        </pc:sldMkLst>
      </pc:sldChg>
      <pc:sldChg chg="delSp mod modNotesTx">
        <pc:chgData name="昱葶 吳" userId="c38ae95efd62ece6" providerId="LiveId" clId="{3F64E119-DCE9-4FBF-9A12-51AEC4A54BF4}" dt="2025-10-20T17:00:31.389" v="4781" actId="20577"/>
        <pc:sldMkLst>
          <pc:docMk/>
          <pc:sldMk cId="3505275964" sldId="303"/>
        </pc:sldMkLst>
        <pc:spChg chg="del">
          <ac:chgData name="昱葶 吳" userId="c38ae95efd62ece6" providerId="LiveId" clId="{3F64E119-DCE9-4FBF-9A12-51AEC4A54BF4}" dt="2025-10-20T16:58:40.335" v="4743" actId="478"/>
          <ac:spMkLst>
            <pc:docMk/>
            <pc:sldMk cId="3505275964" sldId="303"/>
            <ac:spMk id="3" creationId="{E18CFC89-D4C4-C1C7-0305-76D25C219968}"/>
          </ac:spMkLst>
        </pc:spChg>
      </pc:sldChg>
      <pc:sldChg chg="modNotesTx">
        <pc:chgData name="昱葶 吳" userId="c38ae95efd62ece6" providerId="LiveId" clId="{3F64E119-DCE9-4FBF-9A12-51AEC4A54BF4}" dt="2025-10-20T17:12:11.125" v="5114" actId="20577"/>
        <pc:sldMkLst>
          <pc:docMk/>
          <pc:sldMk cId="49744831" sldId="309"/>
        </pc:sldMkLst>
      </pc:sldChg>
      <pc:sldChg chg="modNotesTx">
        <pc:chgData name="昱葶 吳" userId="c38ae95efd62ece6" providerId="LiveId" clId="{3F64E119-DCE9-4FBF-9A12-51AEC4A54BF4}" dt="2025-10-20T17:16:49.666" v="5448" actId="20577"/>
        <pc:sldMkLst>
          <pc:docMk/>
          <pc:sldMk cId="1130375293" sldId="311"/>
        </pc:sldMkLst>
      </pc:sldChg>
      <pc:sldChg chg="modNotesTx">
        <pc:chgData name="昱葶 吳" userId="c38ae95efd62ece6" providerId="LiveId" clId="{3F64E119-DCE9-4FBF-9A12-51AEC4A54BF4}" dt="2025-10-20T17:17:03.537" v="5449" actId="20577"/>
        <pc:sldMkLst>
          <pc:docMk/>
          <pc:sldMk cId="2146471014" sldId="313"/>
        </pc:sldMkLst>
      </pc:sldChg>
      <pc:sldChg chg="modNotesTx">
        <pc:chgData name="昱葶 吳" userId="c38ae95efd62ece6" providerId="LiveId" clId="{3F64E119-DCE9-4FBF-9A12-51AEC4A54BF4}" dt="2025-10-20T17:02:05.881" v="4800" actId="20577"/>
        <pc:sldMkLst>
          <pc:docMk/>
          <pc:sldMk cId="2612891716" sldId="315"/>
        </pc:sldMkLst>
      </pc:sldChg>
      <pc:sldChg chg="modNotesTx">
        <pc:chgData name="昱葶 吳" userId="c38ae95efd62ece6" providerId="LiveId" clId="{3F64E119-DCE9-4FBF-9A12-51AEC4A54BF4}" dt="2025-10-20T17:02:22.625" v="4810" actId="20577"/>
        <pc:sldMkLst>
          <pc:docMk/>
          <pc:sldMk cId="1471924957" sldId="316"/>
        </pc:sldMkLst>
      </pc:sldChg>
      <pc:sldChg chg="modNotesTx">
        <pc:chgData name="昱葶 吳" userId="c38ae95efd62ece6" providerId="LiveId" clId="{3F64E119-DCE9-4FBF-9A12-51AEC4A54BF4}" dt="2025-10-20T17:03:33.519" v="4824" actId="20577"/>
        <pc:sldMkLst>
          <pc:docMk/>
          <pc:sldMk cId="1696985003" sldId="317"/>
        </pc:sldMkLst>
      </pc:sldChg>
      <pc:sldChg chg="modNotesTx">
        <pc:chgData name="昱葶 吳" userId="c38ae95efd62ece6" providerId="LiveId" clId="{3F64E119-DCE9-4FBF-9A12-51AEC4A54BF4}" dt="2025-10-20T18:00:32.271" v="5849" actId="20577"/>
        <pc:sldMkLst>
          <pc:docMk/>
          <pc:sldMk cId="333739960" sldId="321"/>
        </pc:sldMkLst>
      </pc:sldChg>
      <pc:sldChg chg="modNotesTx">
        <pc:chgData name="昱葶 吳" userId="c38ae95efd62ece6" providerId="LiveId" clId="{3F64E119-DCE9-4FBF-9A12-51AEC4A54BF4}" dt="2025-10-20T16:33:19.284" v="3204" actId="20577"/>
        <pc:sldMkLst>
          <pc:docMk/>
          <pc:sldMk cId="3791238018" sldId="322"/>
        </pc:sldMkLst>
      </pc:sldChg>
      <pc:sldChg chg="modNotesTx">
        <pc:chgData name="昱葶 吳" userId="c38ae95efd62ece6" providerId="LiveId" clId="{3F64E119-DCE9-4FBF-9A12-51AEC4A54BF4}" dt="2025-10-20T16:36:09.427" v="3413" actId="20577"/>
        <pc:sldMkLst>
          <pc:docMk/>
          <pc:sldMk cId="2100783326" sldId="323"/>
        </pc:sldMkLst>
      </pc:sldChg>
      <pc:sldChg chg="modNotesTx">
        <pc:chgData name="昱葶 吳" userId="c38ae95efd62ece6" providerId="LiveId" clId="{3F64E119-DCE9-4FBF-9A12-51AEC4A54BF4}" dt="2025-10-20T16:37:17.492" v="3563" actId="20577"/>
        <pc:sldMkLst>
          <pc:docMk/>
          <pc:sldMk cId="1782145414" sldId="325"/>
        </pc:sldMkLst>
      </pc:sldChg>
      <pc:sldChg chg="modNotesTx">
        <pc:chgData name="昱葶 吳" userId="c38ae95efd62ece6" providerId="LiveId" clId="{3F64E119-DCE9-4FBF-9A12-51AEC4A54BF4}" dt="2025-10-20T16:39:05.276" v="3855" actId="20577"/>
        <pc:sldMkLst>
          <pc:docMk/>
          <pc:sldMk cId="333296269" sldId="326"/>
        </pc:sldMkLst>
      </pc:sldChg>
      <pc:sldChg chg="modNotesTx">
        <pc:chgData name="昱葶 吳" userId="c38ae95efd62ece6" providerId="LiveId" clId="{3F64E119-DCE9-4FBF-9A12-51AEC4A54BF4}" dt="2025-10-20T16:30:33.396" v="2848" actId="20577"/>
        <pc:sldMkLst>
          <pc:docMk/>
          <pc:sldMk cId="4118810607" sldId="327"/>
        </pc:sldMkLst>
      </pc:sldChg>
      <pc:sldChg chg="modNotesTx">
        <pc:chgData name="昱葶 吳" userId="c38ae95efd62ece6" providerId="LiveId" clId="{3F64E119-DCE9-4FBF-9A12-51AEC4A54BF4}" dt="2025-10-20T16:00:56.576" v="1634" actId="20577"/>
        <pc:sldMkLst>
          <pc:docMk/>
          <pc:sldMk cId="806323316" sldId="328"/>
        </pc:sldMkLst>
      </pc:sldChg>
      <pc:sldChg chg="modSp mod modNotesTx">
        <pc:chgData name="昱葶 吳" userId="c38ae95efd62ece6" providerId="LiveId" clId="{3F64E119-DCE9-4FBF-9A12-51AEC4A54BF4}" dt="2025-10-20T16:23:44.216" v="2296" actId="20577"/>
        <pc:sldMkLst>
          <pc:docMk/>
          <pc:sldMk cId="4115533972" sldId="329"/>
        </pc:sldMkLst>
        <pc:spChg chg="mod">
          <ac:chgData name="昱葶 吳" userId="c38ae95efd62ece6" providerId="LiveId" clId="{3F64E119-DCE9-4FBF-9A12-51AEC4A54BF4}" dt="2025-10-20T15:55:00.430" v="1486" actId="207"/>
          <ac:spMkLst>
            <pc:docMk/>
            <pc:sldMk cId="4115533972" sldId="329"/>
            <ac:spMk id="3" creationId="{309A1C9B-5368-762F-C0DD-2C90213BFD17}"/>
          </ac:spMkLst>
        </pc:spChg>
        <pc:cxnChg chg="mod">
          <ac:chgData name="昱葶 吳" userId="c38ae95efd62ece6" providerId="LiveId" clId="{3F64E119-DCE9-4FBF-9A12-51AEC4A54BF4}" dt="2025-10-20T15:54:36.986" v="1485" actId="20577"/>
          <ac:cxnSpMkLst>
            <pc:docMk/>
            <pc:sldMk cId="4115533972" sldId="329"/>
            <ac:cxnSpMk id="33" creationId="{B752342E-1B8E-4E7A-A3AF-AE427E2C0DF0}"/>
          </ac:cxnSpMkLst>
        </pc:cxnChg>
      </pc:sldChg>
      <pc:sldChg chg="modNotesTx">
        <pc:chgData name="昱葶 吳" userId="c38ae95efd62ece6" providerId="LiveId" clId="{3F64E119-DCE9-4FBF-9A12-51AEC4A54BF4}" dt="2025-10-20T16:22:13.009" v="2152" actId="20577"/>
        <pc:sldMkLst>
          <pc:docMk/>
          <pc:sldMk cId="2258856740" sldId="330"/>
        </pc:sldMkLst>
      </pc:sldChg>
      <pc:sldChg chg="addSp delSp modSp mod modNotesTx">
        <pc:chgData name="昱葶 吳" userId="c38ae95efd62ece6" providerId="LiveId" clId="{3F64E119-DCE9-4FBF-9A12-51AEC4A54BF4}" dt="2025-10-20T17:50:33.703" v="5695" actId="113"/>
        <pc:sldMkLst>
          <pc:docMk/>
          <pc:sldMk cId="520077094" sldId="331"/>
        </pc:sldMkLst>
        <pc:spChg chg="add mod">
          <ac:chgData name="昱葶 吳" userId="c38ae95efd62ece6" providerId="LiveId" clId="{3F64E119-DCE9-4FBF-9A12-51AEC4A54BF4}" dt="2025-10-20T17:47:56.423" v="5681" actId="688"/>
          <ac:spMkLst>
            <pc:docMk/>
            <pc:sldMk cId="520077094" sldId="331"/>
            <ac:spMk id="7" creationId="{E1FD79BD-15B0-5037-AA3A-A889A7E04C56}"/>
          </ac:spMkLst>
        </pc:spChg>
        <pc:spChg chg="mod">
          <ac:chgData name="昱葶 吳" userId="c38ae95efd62ece6" providerId="LiveId" clId="{3F64E119-DCE9-4FBF-9A12-51AEC4A54BF4}" dt="2025-10-20T17:47:05.913" v="5672" actId="1076"/>
          <ac:spMkLst>
            <pc:docMk/>
            <pc:sldMk cId="520077094" sldId="331"/>
            <ac:spMk id="20" creationId="{4D929FA3-3A7E-D084-2F8D-36D9C59A3C0D}"/>
          </ac:spMkLst>
        </pc:spChg>
        <pc:spChg chg="add del">
          <ac:chgData name="昱葶 吳" userId="c38ae95efd62ece6" providerId="LiveId" clId="{3F64E119-DCE9-4FBF-9A12-51AEC4A54BF4}" dt="2025-10-20T17:47:56.830" v="5682" actId="11529"/>
          <ac:spMkLst>
            <pc:docMk/>
            <pc:sldMk cId="520077094" sldId="331"/>
            <ac:spMk id="21" creationId="{3EF178A7-19AB-7CB5-5E64-65A7D6F4954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pPr>
            <a:r>
              <a:rPr lang="zh-TW" altLang="en-US" sz="1600" b="1" i="0" u="none" strike="noStrike" baseline="0" dirty="0"/>
              <a:t>各年度 </a:t>
            </a:r>
            <a:r>
              <a:rPr lang="en-US" altLang="zh-TW" sz="1600" b="1" i="0" u="none" strike="noStrike" baseline="0" dirty="0"/>
              <a:t>CVE </a:t>
            </a:r>
            <a:r>
              <a:rPr lang="zh-TW" altLang="en-US" sz="1600" b="1" i="0" u="none" strike="noStrike" baseline="0" dirty="0"/>
              <a:t>公開數量變化趨勢 </a:t>
            </a:r>
            <a:r>
              <a:rPr lang="en-US" altLang="zh-TW" sz="1600" b="1" i="0" u="none" strike="noStrike" baseline="0" dirty="0"/>
              <a:t>(2016</a:t>
            </a:r>
            <a:r>
              <a:rPr lang="zh-TW" altLang="en-US" sz="1600" b="1" i="0" u="none" strike="noStrike" baseline="0" dirty="0"/>
              <a:t> </a:t>
            </a:r>
            <a:r>
              <a:rPr lang="en-US" altLang="zh-TW" sz="1600" b="1" i="0" u="none" strike="noStrike" baseline="0" dirty="0"/>
              <a:t>~</a:t>
            </a:r>
            <a:r>
              <a:rPr lang="zh-TW" altLang="en-US" sz="1600" b="1" i="0" u="none" strike="noStrike" baseline="0" dirty="0"/>
              <a:t> </a:t>
            </a:r>
            <a:r>
              <a:rPr lang="en-US" altLang="zh-TW" sz="1600" b="1" i="0" u="none" strike="noStrike" baseline="0" dirty="0"/>
              <a:t>2024)</a:t>
            </a:r>
            <a:endParaRPr lang="zh-TW" altLang="en-US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+mn-cs"/>
            </a:defRPr>
          </a:pPr>
          <a:endParaRPr lang="zh-TW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各年度公布的 CVE 紀錄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工作表1!$A$2:$A$10</c:f>
              <c:numCache>
                <c:formatCode>General</c:formatCode>
                <c:ptCount val="9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</c:numCache>
            </c:numRef>
          </c:cat>
          <c:val>
            <c:numRef>
              <c:f>工作表1!$B$2:$B$10</c:f>
              <c:numCache>
                <c:formatCode>General</c:formatCode>
                <c:ptCount val="9"/>
                <c:pt idx="0">
                  <c:v>6457</c:v>
                </c:pt>
                <c:pt idx="1">
                  <c:v>14645</c:v>
                </c:pt>
                <c:pt idx="2">
                  <c:v>16512</c:v>
                </c:pt>
                <c:pt idx="3">
                  <c:v>17308</c:v>
                </c:pt>
                <c:pt idx="4">
                  <c:v>18375</c:v>
                </c:pt>
                <c:pt idx="5">
                  <c:v>20161</c:v>
                </c:pt>
                <c:pt idx="6">
                  <c:v>25059</c:v>
                </c:pt>
                <c:pt idx="7">
                  <c:v>28961</c:v>
                </c:pt>
                <c:pt idx="8">
                  <c:v>40077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2C-4CAA-BE27-451027870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7968975"/>
        <c:axId val="1757966575"/>
      </c:lineChart>
      <c:catAx>
        <c:axId val="175796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1757966575"/>
        <c:crosses val="autoZero"/>
        <c:auto val="1"/>
        <c:lblAlgn val="ctr"/>
        <c:lblOffset val="100"/>
        <c:noMultiLvlLbl val="0"/>
      </c:catAx>
      <c:valAx>
        <c:axId val="17579665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57968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1400" b="1" baseline="0">
          <a:latin typeface="Times New Roman" panose="02020603050405020304" pitchFamily="18" charset="0"/>
          <a:ea typeface="標楷體" panose="03000509000000000000" pitchFamily="65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939C2-0000-44A7-8ADA-25DC4B3171D2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82B87-141F-4D6E-9ECF-232F46E650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74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各位老師、與會來賓</a:t>
            </a:r>
            <a:r>
              <a:rPr lang="zh-TW" altLang="en-US"/>
              <a:t>，大家早安，</a:t>
            </a:r>
            <a:r>
              <a:rPr lang="zh-TW" altLang="en-US" dirty="0"/>
              <a:t>我是江俋陞來自國立臺灣科技大學，</a:t>
            </a:r>
            <a:endParaRPr lang="en-US" altLang="zh-TW" dirty="0"/>
          </a:p>
          <a:p>
            <a:r>
              <a:rPr lang="zh-TW" altLang="en-US" dirty="0"/>
              <a:t>我今天要報告的題目是</a:t>
            </a:r>
            <a:r>
              <a:rPr lang="zh-TW" altLang="en-US" b="1" dirty="0"/>
              <a:t>「</a:t>
            </a:r>
            <a:r>
              <a:rPr lang="en-US" altLang="zh-TW" b="1" dirty="0"/>
              <a:t>LLM </a:t>
            </a:r>
            <a:r>
              <a:rPr lang="zh-TW" altLang="en-US" b="1" dirty="0"/>
              <a:t>代理人基礎的 </a:t>
            </a:r>
            <a:r>
              <a:rPr lang="en-US" altLang="zh-TW" b="1" dirty="0"/>
              <a:t>CVE </a:t>
            </a:r>
            <a:r>
              <a:rPr lang="zh-TW" altLang="en-US" b="1" dirty="0"/>
              <a:t>自動化：嘗試與反思」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這份研究主要由我，以及吳昱葶同學、周伯翰學長、陳孟彰老師，黃意婷老師共同研究。</a:t>
            </a:r>
          </a:p>
          <a:p>
            <a:r>
              <a:rPr lang="zh-TW" altLang="en-US" dirty="0"/>
              <a:t>接下來會介紹</a:t>
            </a:r>
            <a:r>
              <a:rPr lang="zh-TW" altLang="en-US" b="1" dirty="0"/>
              <a:t>前言、文獻探討、方法、實驗</a:t>
            </a:r>
            <a:r>
              <a:rPr lang="zh-TW" altLang="en-US" dirty="0"/>
              <a:t>，及</a:t>
            </a:r>
            <a:r>
              <a:rPr lang="zh-TW" altLang="en-US" b="1" dirty="0"/>
              <a:t>討論與結論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907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5A0E-1C04-C08E-FCDE-18F4169C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633B9A-C36E-5428-B225-D612764E9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4B2CEA6-3FB3-C61C-B9A8-10ADF7809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首先是前言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dirty="0"/>
              <a:t>隨著數位化的普及，資訊安全的議題愈發受到重視，</a:t>
            </a:r>
            <a:br>
              <a:rPr lang="zh-TW" altLang="en-US" dirty="0"/>
            </a:br>
            <a:r>
              <a:rPr lang="zh-TW" altLang="en-US" dirty="0"/>
              <a:t>近年來全球漏洞數量</a:t>
            </a:r>
            <a:r>
              <a:rPr lang="zh-TW" altLang="en-US" b="1" dirty="0"/>
              <a:t>快速攀升</a:t>
            </a:r>
            <a:r>
              <a:rPr lang="zh-TW" altLang="en-US" dirty="0"/>
              <a:t>，但</a:t>
            </a:r>
            <a:r>
              <a:rPr lang="zh-TW" altLang="en-US" b="1" dirty="0"/>
              <a:t>修補速度遠不及漏洞揭露速度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由右圖可以看出，各年度公開的 </a:t>
            </a:r>
            <a:r>
              <a:rPr lang="en-US" altLang="zh-TW" dirty="0"/>
              <a:t>CVE </a:t>
            </a:r>
            <a:r>
              <a:rPr lang="zh-TW" altLang="en-US" dirty="0"/>
              <a:t>數量呈現</a:t>
            </a:r>
            <a:r>
              <a:rPr lang="zh-TW" altLang="en-US" b="1" dirty="0"/>
              <a:t>明顯的上升趨勢</a:t>
            </a:r>
            <a:r>
              <a:rPr lang="zh-TW" altLang="en-US" dirty="0"/>
              <a:t>，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並且從 </a:t>
            </a:r>
            <a:r>
              <a:rPr lang="en-US" altLang="zh-TW" dirty="0"/>
              <a:t>2016</a:t>
            </a:r>
            <a:r>
              <a:rPr lang="zh-TW" altLang="en-US" dirty="0"/>
              <a:t> 年到 </a:t>
            </a:r>
            <a:r>
              <a:rPr lang="en-US" altLang="zh-TW" dirty="0"/>
              <a:t>2024</a:t>
            </a:r>
            <a:r>
              <a:rPr lang="zh-TW" altLang="en-US" dirty="0"/>
              <a:t> 年成長了約 </a:t>
            </a:r>
            <a:r>
              <a:rPr lang="en-US" altLang="zh-TW" b="1" dirty="0"/>
              <a:t>6.2</a:t>
            </a:r>
            <a:r>
              <a:rPr lang="zh-TW" altLang="en-US" dirty="0"/>
              <a:t> 倍，這凸顯出自動化分析的重要性。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85BF05-955A-5F36-390E-D867E9109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276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BDDD-65CF-83DB-816C-432BC5D0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12ED4A-653E-72C2-DF65-16E4ADCA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B56AA1-6A15-364E-6853-FF774E8AC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隨著 </a:t>
            </a:r>
            <a:r>
              <a:rPr lang="en-US" altLang="zh-TW" dirty="0"/>
              <a:t>LLM </a:t>
            </a:r>
            <a:r>
              <a:rPr lang="zh-TW" altLang="en-US" dirty="0"/>
              <a:t>在程式碼生成與多步推理上的進步，逐漸具備處理複雜任務的潛力。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因此，本研究探討 </a:t>
            </a:r>
            <a:r>
              <a:rPr lang="en-US" altLang="zh-TW" b="1" dirty="0"/>
              <a:t>LLM </a:t>
            </a:r>
            <a:r>
              <a:rPr lang="zh-TW" altLang="en-US" b="1" dirty="0"/>
              <a:t>是否能自動從公開 </a:t>
            </a:r>
            <a:r>
              <a:rPr lang="en-US" altLang="zh-TW" b="1" dirty="0"/>
              <a:t>CVE </a:t>
            </a:r>
            <a:r>
              <a:rPr lang="zh-TW" altLang="en-US" b="1" dirty="0"/>
              <a:t>描述，生成有效的 </a:t>
            </a:r>
            <a:r>
              <a:rPr lang="en-US" altLang="zh-TW" b="1" dirty="0"/>
              <a:t>PoC</a:t>
            </a:r>
            <a:r>
              <a:rPr lang="zh-TW" altLang="en-US" b="1" dirty="0"/>
              <a:t> 程式碼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我們提出一個</a:t>
            </a:r>
            <a:r>
              <a:rPr lang="zh-TW" altLang="en-US" b="1" dirty="0"/>
              <a:t>基於 </a:t>
            </a:r>
            <a:r>
              <a:rPr lang="en-US" altLang="zh-TW" b="1" dirty="0"/>
              <a:t>LLM</a:t>
            </a:r>
            <a:r>
              <a:rPr lang="zh-TW" altLang="en-US" b="1" dirty="0"/>
              <a:t> 代理的框架</a:t>
            </a:r>
            <a:r>
              <a:rPr lang="zh-TW" altLang="en-US" dirty="0"/>
              <a:t>：</a:t>
            </a:r>
            <a:endParaRPr lang="en-US" altLang="zh-TW" dirty="0"/>
          </a:p>
          <a:p>
            <a:r>
              <a:rPr lang="zh-TW" altLang="en-US" dirty="0"/>
              <a:t>使用者</a:t>
            </a:r>
            <a:r>
              <a:rPr lang="zh-TW" altLang="en-US" b="1" dirty="0"/>
              <a:t>輸入 </a:t>
            </a:r>
            <a:r>
              <a:rPr lang="en-US" altLang="zh-TW" b="1" dirty="0"/>
              <a:t>CVE </a:t>
            </a:r>
            <a:r>
              <a:rPr lang="zh-TW" altLang="en-US" b="1" dirty="0"/>
              <a:t>編號與提示詞</a:t>
            </a:r>
            <a:r>
              <a:rPr lang="zh-TW" altLang="en-US" dirty="0"/>
              <a:t>（</a:t>
            </a:r>
            <a:r>
              <a:rPr lang="en-US" altLang="zh-TW" dirty="0"/>
              <a:t>prompt</a:t>
            </a:r>
            <a:r>
              <a:rPr lang="zh-TW" altLang="en-US" dirty="0"/>
              <a:t>），</a:t>
            </a:r>
            <a:r>
              <a:rPr lang="en-US" altLang="zh-TW" b="1" dirty="0"/>
              <a:t>AI </a:t>
            </a:r>
            <a:r>
              <a:rPr lang="zh-TW" altLang="en-US" b="1" dirty="0"/>
              <a:t>代理將自行整合漏洞資訊、生成 </a:t>
            </a:r>
            <a:r>
              <a:rPr lang="en-US" altLang="zh-TW" b="1" dirty="0"/>
              <a:t>PoC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整個流程在</a:t>
            </a:r>
            <a:r>
              <a:rPr lang="zh-TW" altLang="en-US" b="1" dirty="0"/>
              <a:t>受控的隔離環境</a:t>
            </a:r>
            <a:r>
              <a:rPr lang="zh-TW" altLang="en-US" dirty="0"/>
              <a:t>內自動執行與驗證，且不依賴任何現成的 </a:t>
            </a:r>
            <a:r>
              <a:rPr lang="en-US" altLang="zh-TW" dirty="0"/>
              <a:t>PoC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09F141-A6BC-92AA-CEF2-58356153C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622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dirty="0"/>
              <a:t>這裡的文獻探討顯示，</a:t>
            </a:r>
            <a:endParaRPr lang="en-US" altLang="zh-TW" sz="1200" b="1" dirty="0"/>
          </a:p>
          <a:p>
            <a:endParaRPr lang="en-US" altLang="zh-TW" sz="1200" b="1" dirty="0"/>
          </a:p>
          <a:p>
            <a:r>
              <a:rPr lang="zh-TW" altLang="en-US" sz="1200" dirty="0"/>
              <a:t>在資訊安全領域中，現在已經能做到完整的自動化流程，</a:t>
            </a:r>
          </a:p>
          <a:p>
            <a:r>
              <a:rPr lang="zh-TW" altLang="en-US" sz="1200" dirty="0"/>
              <a:t>不過，這些方法大多侷限在特定環境或格式，</a:t>
            </a:r>
            <a:r>
              <a:rPr lang="zh-TW" altLang="en-US" sz="1200" b="1" dirty="0"/>
              <a:t>擴展性與泛化能力</a:t>
            </a:r>
            <a:r>
              <a:rPr lang="zh-TW" altLang="en-US" sz="1200" dirty="0"/>
              <a:t>仍是一個挑戰。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718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而這裡的文獻探討則展示與評估，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en-US" altLang="zh-TW" dirty="0"/>
              <a:t>LLM </a:t>
            </a:r>
            <a:r>
              <a:rPr lang="zh-TW" altLang="en-US" dirty="0"/>
              <a:t>在</a:t>
            </a:r>
            <a:r>
              <a:rPr lang="zh-TW" altLang="en-US" b="1" dirty="0"/>
              <a:t>紅隊演練</a:t>
            </a:r>
            <a:r>
              <a:rPr lang="zh-TW" altLang="en-US" dirty="0"/>
              <a:t>中的潛力和，</a:t>
            </a:r>
            <a:endParaRPr lang="en-US" altLang="zh-TW" dirty="0"/>
          </a:p>
          <a:p>
            <a:r>
              <a:rPr lang="zh-TW" altLang="en-US" dirty="0"/>
              <a:t>其具備</a:t>
            </a:r>
            <a:r>
              <a:rPr lang="zh-TW" altLang="en-US" b="1" dirty="0"/>
              <a:t>完整程式修改能力</a:t>
            </a:r>
            <a:r>
              <a:rPr lang="zh-TW" altLang="en-US" dirty="0"/>
              <a:t>，但同時也帶來</a:t>
            </a:r>
            <a:r>
              <a:rPr lang="zh-TW" altLang="en-US" b="1" dirty="0"/>
              <a:t>倫理與安全問題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860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為了讓 </a:t>
            </a:r>
            <a:r>
              <a:rPr lang="en-US" altLang="zh-TW" dirty="0"/>
              <a:t>LLM </a:t>
            </a:r>
            <a:r>
              <a:rPr lang="zh-TW" altLang="en-US" dirty="0"/>
              <a:t>能在受控環境中安全的調用檔案、工具與資料，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本研究採用 </a:t>
            </a:r>
            <a:r>
              <a:rPr lang="en-US" altLang="zh-TW" dirty="0"/>
              <a:t>Anthropic </a:t>
            </a:r>
            <a:r>
              <a:rPr lang="zh-TW" altLang="en-US" dirty="0"/>
              <a:t>的 </a:t>
            </a:r>
            <a:r>
              <a:rPr lang="en-US" altLang="zh-TW" dirty="0"/>
              <a:t>Model Context Protocol</a:t>
            </a:r>
            <a:r>
              <a:rPr lang="zh-TW" altLang="en-US" dirty="0"/>
              <a:t>（</a:t>
            </a:r>
            <a:r>
              <a:rPr lang="en-US" altLang="zh-TW" dirty="0"/>
              <a:t>MCP</a:t>
            </a:r>
            <a:r>
              <a:rPr lang="zh-TW" altLang="en-US" dirty="0"/>
              <a:t>）。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接下來會開始說明我們的研究方法，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647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接下來，在方法章節中我將詳細說明我們的實作流程</a:t>
            </a:r>
            <a:endParaRPr lang="en-US" altLang="zh-TW" b="1" dirty="0"/>
          </a:p>
          <a:p>
            <a:endParaRPr lang="en-US" altLang="zh-TW" dirty="0"/>
          </a:p>
          <a:p>
            <a:r>
              <a:rPr lang="zh-TW" altLang="en-US" b="1" dirty="0"/>
              <a:t>系統流程</a:t>
            </a:r>
            <a:r>
              <a:rPr lang="zh-TW" altLang="en-US" dirty="0"/>
              <a:t>大致分為</a:t>
            </a:r>
            <a:r>
              <a:rPr lang="zh-TW" altLang="en-US" b="1" dirty="0"/>
              <a:t>五個步驟</a:t>
            </a:r>
            <a:r>
              <a:rPr lang="zh-TW" altLang="en-US" dirty="0"/>
              <a:t>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185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這邊顯示的是我們的</a:t>
            </a:r>
            <a:r>
              <a:rPr lang="zh-TW" altLang="en-US" b="1" dirty="0"/>
              <a:t>系統架構圖</a:t>
            </a:r>
            <a:r>
              <a:rPr lang="zh-TW" altLang="en-US" dirty="0"/>
              <a:t>，接下來我將</a:t>
            </a:r>
            <a:r>
              <a:rPr lang="zh-TW" altLang="en-US" b="1" dirty="0"/>
              <a:t>介紹工具、環境，再說明系統流程。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b="0" dirty="0"/>
              <a:t>此外，我們亦</a:t>
            </a:r>
            <a:r>
              <a:rPr lang="zh-TW" altLang="en-US" dirty="0"/>
              <a:t>遵循資安的倫理規範，</a:t>
            </a:r>
            <a:endParaRPr lang="en-US" altLang="zh-TW" b="0" dirty="0"/>
          </a:p>
          <a:p>
            <a:r>
              <a:rPr lang="zh-TW" altLang="en-US" dirty="0"/>
              <a:t>所有實驗皆於</a:t>
            </a:r>
            <a:r>
              <a:rPr lang="zh-TW" altLang="en-US" b="1" dirty="0"/>
              <a:t> </a:t>
            </a:r>
            <a:r>
              <a:rPr lang="en-US" altLang="zh-TW" b="1" dirty="0"/>
              <a:t>Win10 </a:t>
            </a:r>
            <a:r>
              <a:rPr lang="zh-TW" altLang="en-US" b="1" dirty="0"/>
              <a:t>虛擬機隔離環境內進行，僅供學術研究之用。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08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LLM </a:t>
            </a:r>
            <a:r>
              <a:rPr lang="zh-TW" altLang="en-US" dirty="0"/>
              <a:t>作為</a:t>
            </a:r>
            <a:r>
              <a:rPr lang="zh-TW" altLang="en-US" b="1" dirty="0"/>
              <a:t>推理、驅動工具與程式生成</a:t>
            </a:r>
            <a:r>
              <a:rPr lang="zh-TW" altLang="en-US" dirty="0"/>
              <a:t>的核心模組，</a:t>
            </a:r>
            <a:endParaRPr lang="en-US" altLang="zh-TW" dirty="0"/>
          </a:p>
          <a:p>
            <a:r>
              <a:rPr lang="zh-TW" altLang="en-US" dirty="0"/>
              <a:t>我們選用 </a:t>
            </a:r>
            <a:r>
              <a:rPr lang="en-US" altLang="zh-TW" b="1" dirty="0"/>
              <a:t>OpenAI GPT-4.1 mini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因為其具備</a:t>
            </a:r>
            <a:r>
              <a:rPr lang="zh-TW" altLang="en-US" b="1" dirty="0"/>
              <a:t>長篇上下文處理、多模態理解與工具調用能力。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579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並選擇 </a:t>
            </a:r>
            <a:r>
              <a:rPr lang="en-US" altLang="zh-TW" b="1" dirty="0"/>
              <a:t>Cline </a:t>
            </a:r>
            <a:r>
              <a:rPr lang="zh-TW" altLang="en-US" b="1" dirty="0"/>
              <a:t>作為代理框架</a:t>
            </a:r>
            <a:r>
              <a:rPr lang="zh-TW" altLang="en-US" dirty="0"/>
              <a:t>， 因為其具備</a:t>
            </a:r>
            <a:r>
              <a:rPr lang="zh-TW" altLang="en-US" b="1" dirty="0"/>
              <a:t>理解程式碼庫、規劃並執行多步程式修改的能力，</a:t>
            </a:r>
            <a:endParaRPr lang="en-US" altLang="zh-TW" dirty="0"/>
          </a:p>
          <a:p>
            <a:r>
              <a:rPr lang="zh-TW" altLang="en-US" dirty="0"/>
              <a:t>並將其與 </a:t>
            </a:r>
            <a:r>
              <a:rPr lang="en-US" altLang="zh-TW" b="1" dirty="0"/>
              <a:t>GPT-4.1mini</a:t>
            </a:r>
            <a:r>
              <a:rPr lang="zh-TW" altLang="en-US" b="1" dirty="0"/>
              <a:t> 的 </a:t>
            </a:r>
            <a:r>
              <a:rPr lang="en-US" altLang="zh-TW" b="1" dirty="0"/>
              <a:t>API </a:t>
            </a:r>
            <a:r>
              <a:rPr lang="zh-TW" altLang="en-US" b="1" dirty="0"/>
              <a:t>連結，</a:t>
            </a:r>
            <a:endParaRPr lang="en-US" altLang="zh-TW" b="1" dirty="0"/>
          </a:p>
          <a:p>
            <a:r>
              <a:rPr lang="zh-TW" altLang="en-US" dirty="0"/>
              <a:t>並</a:t>
            </a:r>
            <a:r>
              <a:rPr lang="zh-TW" altLang="en-US" b="1" dirty="0"/>
              <a:t>新增 </a:t>
            </a:r>
            <a:r>
              <a:rPr lang="en-US" altLang="zh-TW" b="1" dirty="0"/>
              <a:t>Rules</a:t>
            </a:r>
            <a:r>
              <a:rPr lang="zh-TW" altLang="en-US" b="1" dirty="0"/>
              <a:t> 讓 </a:t>
            </a:r>
            <a:r>
              <a:rPr lang="en-US" altLang="zh-TW" b="1" dirty="0"/>
              <a:t>LLM</a:t>
            </a:r>
            <a:r>
              <a:rPr lang="zh-TW" altLang="en-US" b="1" dirty="0"/>
              <a:t> 更能處理使用者所下達的任務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6522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在工具來源上</a:t>
            </a:r>
            <a:r>
              <a:rPr lang="zh-TW" altLang="en-US" dirty="0"/>
              <a:t>，我們透過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Smithery.ai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en-US" altLang="zh-TW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mcpmarket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尋找合適功能的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b="0" dirty="0">
                <a:latin typeface="Times New Roman" panose="02020603050405020304" pitchFamily="18" charset="0"/>
                <a:ea typeface="標楷體" panose="03000509000000000000" pitchFamily="65" charset="-120"/>
              </a:rPr>
              <a:t>並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額外自製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提供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代理使用。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224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接下來開始介紹系統流程，</a:t>
            </a:r>
            <a:endParaRPr lang="en-US" altLang="zh-TW" b="1" dirty="0"/>
          </a:p>
          <a:p>
            <a:r>
              <a:rPr lang="zh-TW" altLang="en-US" b="1" dirty="0"/>
              <a:t>第一階段：</a:t>
            </a:r>
            <a:endParaRPr lang="en-US" altLang="zh-TW" b="1" dirty="0"/>
          </a:p>
          <a:p>
            <a:r>
              <a:rPr lang="zh-TW" altLang="en-US" dirty="0"/>
              <a:t>使用者會</a:t>
            </a:r>
            <a:r>
              <a:rPr lang="zh-TW" altLang="en-US" b="1" dirty="0"/>
              <a:t>輸入 </a:t>
            </a:r>
            <a:r>
              <a:rPr lang="en-US" altLang="zh-TW" b="1" dirty="0"/>
              <a:t>prompt</a:t>
            </a:r>
            <a:r>
              <a:rPr lang="zh-TW" altLang="en-US" b="1" dirty="0"/>
              <a:t> 以及客製化的 </a:t>
            </a:r>
            <a:r>
              <a:rPr lang="en-US" altLang="zh-TW" b="1" dirty="0"/>
              <a:t>rules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此外，使用者在輸入完提示詞後，只需</a:t>
            </a:r>
            <a:r>
              <a:rPr lang="zh-TW" altLang="en-US" b="1" dirty="0"/>
              <a:t>負責監控任務進度，並適時的介入以及提供協助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532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第二階段：</a:t>
            </a:r>
            <a:endParaRPr lang="en-US" altLang="zh-TW" b="1" dirty="0"/>
          </a:p>
          <a:p>
            <a:r>
              <a:rPr lang="en-US" altLang="zh-TW" dirty="0"/>
              <a:t>Cline </a:t>
            </a:r>
            <a:r>
              <a:rPr lang="zh-TW" altLang="en-US" dirty="0"/>
              <a:t>會將</a:t>
            </a:r>
            <a:r>
              <a:rPr lang="zh-TW" altLang="en-US" b="1" dirty="0"/>
              <a:t>所有的資訊以結構化上下文，</a:t>
            </a:r>
            <a:endParaRPr lang="en-US" altLang="zh-TW" b="1" dirty="0"/>
          </a:p>
          <a:p>
            <a:r>
              <a:rPr lang="zh-TW" altLang="en-US" b="1" dirty="0"/>
              <a:t>透過 </a:t>
            </a:r>
            <a:r>
              <a:rPr lang="en-US" altLang="zh-TW" b="1" dirty="0"/>
              <a:t>API</a:t>
            </a:r>
            <a:r>
              <a:rPr lang="zh-TW" altLang="en-US" b="1" dirty="0"/>
              <a:t> 全部傳給 </a:t>
            </a:r>
            <a:r>
              <a:rPr lang="en-US" altLang="zh-TW" b="1" dirty="0"/>
              <a:t>LLM</a:t>
            </a:r>
            <a:r>
              <a:rPr lang="zh-TW" altLang="en-US" b="1" dirty="0"/>
              <a:t>。</a:t>
            </a:r>
            <a:endParaRPr lang="en-US" altLang="zh-TW" b="1" dirty="0"/>
          </a:p>
          <a:p>
            <a:endParaRPr lang="en-US" altLang="zh-TW" dirty="0"/>
          </a:p>
          <a:p>
            <a:r>
              <a:rPr lang="en-US" altLang="zh-TW" dirty="0"/>
              <a:t>LLM</a:t>
            </a:r>
            <a:r>
              <a:rPr lang="zh-TW" altLang="en-US" dirty="0"/>
              <a:t> 則負責</a:t>
            </a:r>
            <a:r>
              <a:rPr lang="zh-TW" altLang="en-US" b="1" dirty="0"/>
              <a:t>整理資訊、規劃任務流程與工具使用。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166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第三階段：</a:t>
            </a:r>
            <a:endParaRPr lang="en-US" altLang="zh-TW" b="1" dirty="0"/>
          </a:p>
          <a:p>
            <a:r>
              <a:rPr lang="en-US" altLang="zh-TW" dirty="0"/>
              <a:t>Cline</a:t>
            </a:r>
            <a:r>
              <a:rPr lang="zh-TW" altLang="en-US" dirty="0"/>
              <a:t> 會根據 </a:t>
            </a:r>
            <a:r>
              <a:rPr lang="en-US" altLang="zh-TW" dirty="0"/>
              <a:t>LLM </a:t>
            </a:r>
            <a:r>
              <a:rPr lang="zh-TW" altLang="en-US" dirty="0"/>
              <a:t>回傳的資訊，</a:t>
            </a:r>
            <a:endParaRPr lang="en-US" altLang="zh-TW" dirty="0"/>
          </a:p>
          <a:p>
            <a:r>
              <a:rPr lang="zh-TW" altLang="en-US" b="1" dirty="0"/>
              <a:t>調用對應的 </a:t>
            </a:r>
            <a:r>
              <a:rPr lang="en-US" altLang="zh-TW" b="1" dirty="0"/>
              <a:t>MCP server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638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第四階段：</a:t>
            </a:r>
            <a:endParaRPr lang="en-US" altLang="zh-TW" b="1" dirty="0"/>
          </a:p>
          <a:p>
            <a:r>
              <a:rPr lang="zh-TW" altLang="en-US" dirty="0"/>
              <a:t>被調用的 </a:t>
            </a:r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r>
              <a:rPr lang="zh-TW" altLang="en-US" dirty="0"/>
              <a:t> 會在</a:t>
            </a:r>
            <a:r>
              <a:rPr lang="zh-TW" altLang="en-US" b="1" dirty="0"/>
              <a:t>虛擬機上實際的執行出來</a:t>
            </a:r>
            <a:r>
              <a:rPr lang="zh-TW" altLang="en-US" dirty="0"/>
              <a:t>，而非單純的文字描述。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54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第五階段：</a:t>
            </a:r>
            <a:endParaRPr lang="en-US" altLang="zh-TW" b="1" dirty="0"/>
          </a:p>
          <a:p>
            <a:r>
              <a:rPr lang="en-US" altLang="zh-TW" dirty="0"/>
              <a:t>Cline</a:t>
            </a:r>
            <a:r>
              <a:rPr lang="zh-TW" altLang="en-US" dirty="0"/>
              <a:t> 會</a:t>
            </a:r>
            <a:r>
              <a:rPr lang="zh-TW" altLang="en-US" b="1" dirty="0"/>
              <a:t>監控與回傳執行結果給 </a:t>
            </a:r>
            <a:r>
              <a:rPr lang="en-US" altLang="zh-TW" b="1" dirty="0"/>
              <a:t>LLM</a:t>
            </a:r>
            <a:r>
              <a:rPr lang="zh-TW" altLang="en-US" b="1" dirty="0"/>
              <a:t> 進行後續規劃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b="1" dirty="0"/>
              <a:t>若 </a:t>
            </a:r>
            <a:r>
              <a:rPr lang="en-US" altLang="zh-TW" b="1" dirty="0"/>
              <a:t>LLM</a:t>
            </a:r>
            <a:r>
              <a:rPr lang="zh-TW" altLang="en-US" b="1" dirty="0"/>
              <a:t> 判斷重現成功，即結束任務；反之重複上述流程。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543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此處展示的是系統架構圖</a:t>
            </a:r>
            <a:endParaRPr lang="en-US" altLang="zh-TW" b="1" dirty="0"/>
          </a:p>
          <a:p>
            <a:r>
              <a:rPr lang="en-US" altLang="zh-TW" dirty="0"/>
              <a:t> </a:t>
            </a:r>
          </a:p>
          <a:p>
            <a:r>
              <a:rPr lang="zh-TW" altLang="en-US" dirty="0"/>
              <a:t>我們將 </a:t>
            </a:r>
            <a:r>
              <a:rPr lang="en-US" altLang="zh-TW" dirty="0"/>
              <a:t>Win10</a:t>
            </a:r>
            <a:r>
              <a:rPr lang="zh-TW" altLang="en-US" dirty="0"/>
              <a:t> 作業系統安裝在虛擬機內，</a:t>
            </a:r>
            <a:r>
              <a:rPr lang="en-US" altLang="zh-TW" dirty="0" err="1"/>
              <a:t>BuildVersion</a:t>
            </a:r>
            <a:r>
              <a:rPr lang="en-US" altLang="zh-TW" dirty="0"/>
              <a:t> </a:t>
            </a:r>
            <a:r>
              <a:rPr lang="zh-TW" altLang="en-US" dirty="0"/>
              <a:t>為 </a:t>
            </a:r>
            <a:r>
              <a:rPr lang="en-US" altLang="zh-TW" dirty="0"/>
              <a:t>10.0.19045.5440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此外，藍色區塊為</a:t>
            </a:r>
            <a:r>
              <a:rPr lang="zh-TW" altLang="en-US" b="1" dirty="0"/>
              <a:t>取得雲端推理模型、</a:t>
            </a:r>
            <a:r>
              <a:rPr lang="en-US" altLang="zh-TW" b="1" dirty="0"/>
              <a:t>Cline</a:t>
            </a:r>
            <a:r>
              <a:rPr lang="zh-TW" altLang="en-US" b="1" dirty="0"/>
              <a:t>、</a:t>
            </a:r>
            <a:r>
              <a:rPr lang="en-US" altLang="zh-TW" b="1" dirty="0"/>
              <a:t>MCP Server </a:t>
            </a:r>
            <a:r>
              <a:rPr lang="zh-TW" altLang="en-US" b="1" dirty="0"/>
              <a:t>的取得方法與相關設定：</a:t>
            </a:r>
            <a:endParaRPr lang="en-US" altLang="zh-TW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b="0" dirty="0"/>
              <a:t>透過購買 </a:t>
            </a:r>
            <a:r>
              <a:rPr lang="en-US" altLang="zh-TW" b="0" dirty="0"/>
              <a:t>API </a:t>
            </a:r>
            <a:r>
              <a:rPr lang="zh-TW" altLang="en-US" b="0" dirty="0"/>
              <a:t>額度已取得 </a:t>
            </a:r>
            <a:r>
              <a:rPr lang="en-US" altLang="zh-TW" b="0" dirty="0"/>
              <a:t>GPT-4.1 mini </a:t>
            </a:r>
            <a:r>
              <a:rPr lang="zh-TW" altLang="en-US" b="0" dirty="0"/>
              <a:t>使用權限</a:t>
            </a:r>
            <a:endParaRPr lang="en-US" altLang="zh-TW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b="0" dirty="0"/>
              <a:t>在虛擬機中下載 </a:t>
            </a:r>
            <a:r>
              <a:rPr lang="en-US" altLang="zh-TW" b="0" dirty="0"/>
              <a:t>VS code</a:t>
            </a:r>
            <a:r>
              <a:rPr lang="zh-TW" altLang="en-US" b="0" dirty="0"/>
              <a:t>，以及安裝 </a:t>
            </a:r>
            <a:r>
              <a:rPr lang="en-US" altLang="zh-TW" b="0" dirty="0"/>
              <a:t>Cline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b="0" dirty="0"/>
              <a:t>在 </a:t>
            </a:r>
            <a:r>
              <a:rPr lang="en-US" altLang="zh-TW" b="0" dirty="0"/>
              <a:t>Smithery.ai</a:t>
            </a:r>
            <a:r>
              <a:rPr lang="zh-TW" altLang="en-US" b="0" dirty="0"/>
              <a:t>、</a:t>
            </a:r>
            <a:r>
              <a:rPr lang="en-US" altLang="zh-TW" b="0" dirty="0"/>
              <a:t>Cline </a:t>
            </a:r>
            <a:r>
              <a:rPr lang="en-US" altLang="zh-TW" b="0" dirty="0" err="1"/>
              <a:t>mcpmarket</a:t>
            </a:r>
            <a:r>
              <a:rPr lang="zh-TW" altLang="en-US" b="0" dirty="0"/>
              <a:t> 上尋找合適的 </a:t>
            </a:r>
            <a:r>
              <a:rPr lang="en-US" altLang="zh-TW" b="0" dirty="0"/>
              <a:t>MCP server</a:t>
            </a:r>
            <a:r>
              <a:rPr lang="zh-TW" altLang="en-US" b="0" dirty="0"/>
              <a:t>，以及額外自製 </a:t>
            </a:r>
            <a:r>
              <a:rPr lang="en-US" altLang="zh-TW" b="0" dirty="0"/>
              <a:t>server </a:t>
            </a:r>
            <a:r>
              <a:rPr lang="zh-TW" altLang="en-US" b="0" dirty="0"/>
              <a:t>提供給 </a:t>
            </a:r>
            <a:r>
              <a:rPr lang="en-US" altLang="zh-TW" b="0" dirty="0"/>
              <a:t>Cline</a:t>
            </a:r>
          </a:p>
          <a:p>
            <a:endParaRPr lang="en-US" altLang="zh-TW" b="1" dirty="0"/>
          </a:p>
          <a:p>
            <a:r>
              <a:rPr lang="zh-TW" altLang="en-US" b="1" dirty="0"/>
              <a:t>當環境都設定完成後</a:t>
            </a:r>
            <a:endParaRPr lang="en-US" altLang="zh-TW" b="1" dirty="0"/>
          </a:p>
          <a:p>
            <a:pPr marL="228600" indent="-228600">
              <a:buFont typeface="+mj-lt"/>
              <a:buAutoNum type="arabicPeriod"/>
            </a:pPr>
            <a:r>
              <a:rPr lang="en-US" altLang="zh-TW" b="0" dirty="0"/>
              <a:t>…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TW" b="0" dirty="0"/>
              <a:t>…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TW" b="0" dirty="0"/>
              <a:t>…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389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282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在 </a:t>
            </a:r>
            <a:r>
              <a:rPr lang="en-US" altLang="zh-TW" b="1" dirty="0"/>
              <a:t>prompt </a:t>
            </a:r>
            <a:r>
              <a:rPr lang="zh-TW" altLang="en-US" b="1" dirty="0"/>
              <a:t>設計上，</a:t>
            </a:r>
            <a:r>
              <a:rPr lang="zh-TW" altLang="en-US" dirty="0"/>
              <a:t>為了</a:t>
            </a:r>
            <a:r>
              <a:rPr lang="zh-TW" altLang="en-US" sz="1200" dirty="0"/>
              <a:t>提升 </a:t>
            </a:r>
            <a:r>
              <a:rPr lang="en-US" altLang="zh-TW" sz="1200" dirty="0"/>
              <a:t>LLM </a:t>
            </a:r>
            <a:r>
              <a:rPr lang="zh-TW" altLang="en-US" sz="1200" dirty="0"/>
              <a:t>在漏洞重現任務的可靠與可控性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我們</a:t>
            </a:r>
            <a:r>
              <a:rPr lang="zh-TW" altLang="en-US" b="1" dirty="0"/>
              <a:t>參考 </a:t>
            </a:r>
            <a:r>
              <a:rPr lang="en-US" altLang="zh-TW" b="1" dirty="0"/>
              <a:t>TIDD-EC </a:t>
            </a:r>
            <a:r>
              <a:rPr lang="zh-TW" altLang="en-US" b="1" dirty="0"/>
              <a:t>架構</a:t>
            </a:r>
            <a:r>
              <a:rPr lang="zh-TW" altLang="en-US" dirty="0"/>
              <a:t>設計提示詞。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Task Type</a:t>
            </a:r>
            <a:r>
              <a:rPr lang="zh-TW" altLang="en-US" dirty="0"/>
              <a:t> 用於</a:t>
            </a:r>
            <a:r>
              <a:rPr lang="zh-TW" altLang="en-US" b="1" dirty="0"/>
              <a:t>定義角色與目標</a:t>
            </a:r>
            <a:r>
              <a:rPr lang="zh-TW" altLang="en-US" dirty="0"/>
              <a:t>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Instruction</a:t>
            </a:r>
            <a:r>
              <a:rPr lang="zh-TW" altLang="en-US" dirty="0"/>
              <a:t> 用於</a:t>
            </a:r>
            <a:r>
              <a:rPr lang="zh-TW" altLang="en-US" b="1" dirty="0"/>
              <a:t>明確列出操作流程</a:t>
            </a:r>
            <a:r>
              <a:rPr lang="zh-TW" altLang="en-US" dirty="0"/>
              <a:t>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Do / Don’t</a:t>
            </a:r>
            <a:r>
              <a:rPr lang="zh-TW" altLang="en-US" dirty="0"/>
              <a:t> 用於</a:t>
            </a:r>
            <a:r>
              <a:rPr lang="zh-TW" altLang="en-US" b="1" dirty="0"/>
              <a:t>規範可行與禁止的行為</a:t>
            </a:r>
            <a:r>
              <a:rPr lang="zh-TW" altLang="en-US" dirty="0"/>
              <a:t>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dirty="0"/>
              <a:t>User Content</a:t>
            </a:r>
            <a:r>
              <a:rPr lang="zh-TW" altLang="en-US" dirty="0"/>
              <a:t> 用於</a:t>
            </a:r>
            <a:r>
              <a:rPr lang="zh-TW" altLang="en-US" b="1" dirty="0"/>
              <a:t>指定任務對象與輸出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r>
              <a:rPr lang="zh-TW" altLang="en-US" dirty="0"/>
              <a:t>藉此確保 </a:t>
            </a:r>
            <a:r>
              <a:rPr lang="en-US" altLang="zh-TW" dirty="0"/>
              <a:t>LLM </a:t>
            </a:r>
            <a:r>
              <a:rPr lang="zh-TW" altLang="en-US" dirty="0"/>
              <a:t>在每一步都有明確的邊界與驗證機制。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749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dirty="0"/>
              <a:t>在 </a:t>
            </a:r>
            <a:r>
              <a:rPr lang="en-US" altLang="zh-TW" b="0" dirty="0"/>
              <a:t>MCP server </a:t>
            </a:r>
            <a:r>
              <a:rPr lang="zh-TW" altLang="en-US" b="0" dirty="0"/>
              <a:t>調用上，</a:t>
            </a:r>
            <a:r>
              <a:rPr lang="zh-TW" altLang="en-US" b="1" dirty="0"/>
              <a:t>除了採用與微調現有的 </a:t>
            </a:r>
            <a:r>
              <a:rPr lang="en-US" altLang="zh-TW" b="1" dirty="0"/>
              <a:t>MCP server</a:t>
            </a:r>
            <a:r>
              <a:rPr lang="zh-TW" altLang="en-US" b="1" dirty="0"/>
              <a:t>，</a:t>
            </a:r>
            <a:endParaRPr lang="en-US" altLang="zh-TW" b="1" dirty="0"/>
          </a:p>
          <a:p>
            <a:r>
              <a:rPr lang="zh-TW" altLang="en-US" b="1" dirty="0"/>
              <a:t>我們也自行開發專用的 </a:t>
            </a:r>
            <a:r>
              <a:rPr lang="en-US" altLang="zh-TW" b="1" dirty="0"/>
              <a:t>MCP server</a:t>
            </a:r>
            <a:r>
              <a:rPr lang="zh-TW" altLang="en-US" b="1" dirty="0"/>
              <a:t> 以擴展 </a:t>
            </a:r>
            <a:r>
              <a:rPr lang="en-US" altLang="zh-TW" b="1" dirty="0"/>
              <a:t>AI </a:t>
            </a:r>
            <a:r>
              <a:rPr lang="zh-TW" altLang="en-US" b="1" dirty="0"/>
              <a:t>代理的能力。</a:t>
            </a:r>
            <a:endParaRPr lang="en-US" altLang="zh-TW" b="1" dirty="0"/>
          </a:p>
          <a:p>
            <a:endParaRPr lang="en-US" altLang="zh-TW" b="0" dirty="0"/>
          </a:p>
          <a:p>
            <a:r>
              <a:rPr lang="zh-TW" altLang="en-US" b="0" dirty="0"/>
              <a:t>使用到的 </a:t>
            </a:r>
            <a:r>
              <a:rPr lang="en-US" altLang="zh-TW" b="0" dirty="0"/>
              <a:t>Server </a:t>
            </a:r>
            <a:r>
              <a:rPr lang="zh-TW" altLang="en-US" b="0" dirty="0"/>
              <a:t>敘述表格如下，再請各位老師、與會來賓參閱。</a:t>
            </a:r>
            <a:endParaRPr lang="en-US" altLang="zh-TW" b="0" dirty="0"/>
          </a:p>
          <a:p>
            <a:endParaRPr lang="en-US" altLang="zh-TW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dirty="0">
                <a:latin typeface="Times New Roman" panose="02020603050405020304" pitchFamily="18" charset="0"/>
                <a:ea typeface="標楷體" panose="03000509000000000000" pitchFamily="65" charset="-120"/>
              </a:rPr>
              <a:t>其中，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Find-PoC-MCP 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在實際重現過程中並未開放給 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代理使用，</a:t>
            </a:r>
            <a:endParaRPr lang="en-US" altLang="zh-TW" sz="12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主要用途為研究者統計 </a:t>
            </a: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CVE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資料的工具。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9867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最後，</a:t>
            </a:r>
            <a:endParaRPr lang="en-US" altLang="zh-TW" b="0" dirty="0"/>
          </a:p>
          <a:p>
            <a:r>
              <a:rPr lang="zh-TW" altLang="en-US" b="0" dirty="0"/>
              <a:t>我們根據 </a:t>
            </a:r>
            <a:r>
              <a:rPr lang="en-US" altLang="zh-TW" b="1" dirty="0"/>
              <a:t>PoC</a:t>
            </a:r>
            <a:r>
              <a:rPr lang="zh-TW" altLang="en-US" b="1" dirty="0"/>
              <a:t> 可執行性、流程完整性，分析重現任務的成功與否。</a:t>
            </a:r>
            <a:endParaRPr lang="en-US" altLang="zh-TW" b="1" dirty="0"/>
          </a:p>
          <a:p>
            <a:endParaRPr lang="en-US" altLang="zh-TW" b="0" dirty="0"/>
          </a:p>
          <a:p>
            <a:r>
              <a:rPr lang="zh-TW" altLang="en-US" b="0" dirty="0"/>
              <a:t>若滿足 </a:t>
            </a:r>
            <a:r>
              <a:rPr lang="en-US" altLang="zh-TW" b="1" dirty="0"/>
              <a:t>PoC </a:t>
            </a:r>
            <a:r>
              <a:rPr lang="zh-TW" altLang="en-US" b="1" dirty="0"/>
              <a:t>可執行性</a:t>
            </a:r>
            <a:r>
              <a:rPr lang="zh-TW" altLang="en-US" b="0" dirty="0"/>
              <a:t>則為「</a:t>
            </a:r>
            <a:r>
              <a:rPr lang="zh-TW" altLang="en-US" b="1" dirty="0"/>
              <a:t>重現成功</a:t>
            </a:r>
            <a:r>
              <a:rPr lang="zh-TW" altLang="en-US" b="0" dirty="0"/>
              <a:t>」，</a:t>
            </a:r>
            <a:endParaRPr lang="en-US" altLang="zh-TW" b="0" dirty="0"/>
          </a:p>
          <a:p>
            <a:r>
              <a:rPr lang="zh-TW" altLang="en-US" b="0" dirty="0"/>
              <a:t>若是</a:t>
            </a:r>
            <a:r>
              <a:rPr lang="zh-TW" altLang="en-US" b="1" dirty="0"/>
              <a:t>流程完整性</a:t>
            </a:r>
            <a:r>
              <a:rPr lang="zh-TW" altLang="en-US" b="0" dirty="0"/>
              <a:t>則為「</a:t>
            </a:r>
            <a:r>
              <a:rPr lang="zh-TW" altLang="en-US" b="1" dirty="0"/>
              <a:t>部分重現</a:t>
            </a:r>
            <a:r>
              <a:rPr lang="zh-TW" altLang="en-US" b="0" dirty="0"/>
              <a:t>」，</a:t>
            </a:r>
            <a:endParaRPr lang="en-US" altLang="zh-TW" b="0" dirty="0"/>
          </a:p>
          <a:p>
            <a:r>
              <a:rPr lang="zh-TW" altLang="en-US" b="0" dirty="0"/>
              <a:t>若</a:t>
            </a:r>
            <a:r>
              <a:rPr lang="zh-TW" altLang="en-US" b="1" dirty="0"/>
              <a:t>兩項皆不滿足</a:t>
            </a:r>
            <a:r>
              <a:rPr lang="zh-TW" altLang="en-US" b="0" dirty="0"/>
              <a:t>則「</a:t>
            </a:r>
            <a:r>
              <a:rPr lang="zh-TW" altLang="en-US" b="1" dirty="0"/>
              <a:t>重現失敗</a:t>
            </a:r>
            <a:r>
              <a:rPr lang="zh-TW" altLang="en-US" b="0" dirty="0"/>
              <a:t>」。</a:t>
            </a:r>
            <a:endParaRPr lang="en-US" altLang="zh-TW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862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接下來介紹實驗環境與 </a:t>
            </a:r>
            <a:r>
              <a:rPr lang="en-US" altLang="zh-TW" b="1" dirty="0"/>
              <a:t>Case Study</a:t>
            </a:r>
            <a:r>
              <a:rPr lang="zh-TW" altLang="en-US" b="1" dirty="0"/>
              <a:t>，</a:t>
            </a:r>
            <a:endParaRPr lang="en-US" altLang="zh-TW" b="1" dirty="0"/>
          </a:p>
          <a:p>
            <a:endParaRPr lang="en-US" altLang="zh-TW" dirty="0"/>
          </a:p>
          <a:p>
            <a:r>
              <a:rPr lang="zh-TW" altLang="en-US" dirty="0"/>
              <a:t>我們在 </a:t>
            </a:r>
            <a:r>
              <a:rPr lang="en-US" altLang="zh-TW" dirty="0"/>
              <a:t>Win10 </a:t>
            </a:r>
            <a:r>
              <a:rPr lang="zh-TW" altLang="en-US" dirty="0"/>
              <a:t>虛擬機上進行所有實驗，只有 </a:t>
            </a:r>
            <a:r>
              <a:rPr lang="en-US" altLang="zh-TW" dirty="0"/>
              <a:t>MCP server</a:t>
            </a:r>
            <a:r>
              <a:rPr lang="zh-TW" altLang="en-US" dirty="0"/>
              <a:t> 可以連網，</a:t>
            </a:r>
            <a:endParaRPr lang="en-US" altLang="zh-TW" dirty="0"/>
          </a:p>
          <a:p>
            <a:r>
              <a:rPr lang="zh-TW" altLang="en-US" dirty="0"/>
              <a:t>使用到的應用程式如下，請各位老師、與會來賓參閱。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此外，為了避免安全軟體干擾實驗過程，我們</a:t>
            </a:r>
            <a:r>
              <a:rPr lang="zh-TW" altLang="en-US" b="1" dirty="0"/>
              <a:t>暫時關閉 </a:t>
            </a:r>
            <a:r>
              <a:rPr lang="en-US" altLang="zh-TW" b="1" dirty="0"/>
              <a:t>Windows Defender</a:t>
            </a:r>
            <a:r>
              <a:rPr lang="zh-TW" altLang="en-US" b="1" dirty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063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由於 </a:t>
            </a:r>
            <a:r>
              <a:rPr lang="en-US" altLang="zh-TW" sz="1200" dirty="0"/>
              <a:t>Windows </a:t>
            </a:r>
            <a:r>
              <a:rPr lang="zh-TW" altLang="en-US" sz="1200" dirty="0"/>
              <a:t>系統漏洞眾多，若無具體參考資訊，將無法確認 </a:t>
            </a:r>
            <a:r>
              <a:rPr lang="en-US" altLang="zh-TW" sz="1200" dirty="0"/>
              <a:t>CVE </a:t>
            </a:r>
            <a:r>
              <a:rPr lang="zh-TW" altLang="en-US" sz="1200" dirty="0"/>
              <a:t>是否能在環境中被觸發。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因此，</a:t>
            </a:r>
            <a:r>
              <a:rPr lang="zh-TW" altLang="en-US" sz="1200" b="1" dirty="0"/>
              <a:t>本研究挑選具備公開 </a:t>
            </a:r>
            <a:r>
              <a:rPr lang="en-US" altLang="zh-TW" sz="1200" b="1" dirty="0"/>
              <a:t>PoC </a:t>
            </a:r>
            <a:r>
              <a:rPr lang="zh-TW" altLang="en-US" sz="1200" b="1" dirty="0"/>
              <a:t>的 </a:t>
            </a:r>
            <a:r>
              <a:rPr lang="en-US" altLang="zh-TW" sz="1200" b="1" dirty="0"/>
              <a:t>CVE </a:t>
            </a:r>
            <a:r>
              <a:rPr lang="zh-TW" altLang="en-US" sz="1200" b="1" dirty="0"/>
              <a:t>案例</a:t>
            </a:r>
            <a:r>
              <a:rPr lang="zh-TW" altLang="en-US" sz="1200" b="0" dirty="0"/>
              <a:t>，</a:t>
            </a:r>
            <a:endParaRPr lang="en-US" altLang="zh-TW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dirty="0"/>
              <a:t>並根據</a:t>
            </a:r>
            <a:r>
              <a:rPr lang="zh-TW" altLang="en-US" b="1" dirty="0"/>
              <a:t>版本相符性、可單機執行性、以及真實可用性</a:t>
            </a:r>
            <a:r>
              <a:rPr lang="zh-TW" altLang="en-US" b="0" dirty="0"/>
              <a:t>，以進行過濾。</a:t>
            </a:r>
            <a:endParaRPr lang="en-US" altLang="zh-TW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/>
              <a:t>最終挑選出 </a:t>
            </a:r>
            <a:r>
              <a:rPr lang="en-US" altLang="zh-TW" b="1" dirty="0"/>
              <a:t>5</a:t>
            </a:r>
            <a:r>
              <a:rPr lang="zh-TW" altLang="en-US" b="1" dirty="0"/>
              <a:t> 個具重現潛力的案例</a:t>
            </a:r>
            <a:r>
              <a:rPr lang="zh-TW" altLang="en-US" b="0" dirty="0"/>
              <a:t>；以下將介紹其中 </a:t>
            </a:r>
            <a:r>
              <a:rPr lang="en-US" altLang="zh-TW" b="0" dirty="0"/>
              <a:t>4 </a:t>
            </a:r>
            <a:r>
              <a:rPr lang="zh-TW" altLang="en-US" b="0" dirty="0"/>
              <a:t>個。</a:t>
            </a:r>
            <a:endParaRPr lang="en-US" altLang="zh-TW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087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首先第一個是 </a:t>
            </a:r>
            <a:r>
              <a:rPr lang="en-US" altLang="zh-TW" b="1" dirty="0"/>
              <a:t>CVE-2025-21420</a:t>
            </a:r>
            <a:endParaRPr lang="zh-TW" altLang="en-US" b="1" dirty="0"/>
          </a:p>
          <a:p>
            <a:endParaRPr lang="en-US" altLang="zh-TW" dirty="0"/>
          </a:p>
          <a:p>
            <a:r>
              <a:rPr lang="zh-TW" altLang="en-US" dirty="0"/>
              <a:t>這個案例是 </a:t>
            </a:r>
            <a:r>
              <a:rPr lang="en-US" altLang="zh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cleanmgr.exe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zh-TW" altLang="en-US" b="1" dirty="0"/>
              <a:t>磁碟清理</a:t>
            </a:r>
            <a:r>
              <a:rPr lang="en-US" altLang="zh-TW" b="1" dirty="0"/>
              <a:t>)</a:t>
            </a:r>
            <a:r>
              <a:rPr lang="zh-TW" altLang="en-US" b="1" dirty="0"/>
              <a:t> 的 </a:t>
            </a:r>
            <a:r>
              <a:rPr lang="en-US" altLang="zh-TW" b="1" dirty="0"/>
              <a:t>DLL </a:t>
            </a:r>
            <a:r>
              <a:rPr lang="zh-TW" altLang="en-US" b="1" dirty="0"/>
              <a:t>側載漏洞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攻擊者可利用</a:t>
            </a:r>
            <a:r>
              <a:rPr lang="zh-TW" altLang="en-US" b="1" dirty="0"/>
              <a:t>符號連結誤導系統載入惡意的 </a:t>
            </a:r>
            <a:r>
              <a:rPr lang="en-US" altLang="zh-TW" b="1" dirty="0"/>
              <a:t>DLL</a:t>
            </a:r>
            <a:r>
              <a:rPr lang="zh-TW" altLang="en-US" dirty="0"/>
              <a:t>，並以 </a:t>
            </a:r>
            <a:r>
              <a:rPr lang="en-US" altLang="zh-TW" dirty="0"/>
              <a:t>SYSTEM </a:t>
            </a:r>
            <a:r>
              <a:rPr lang="zh-TW" altLang="en-US" dirty="0"/>
              <a:t>權限執行。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不過我們的實驗</a:t>
            </a:r>
            <a:r>
              <a:rPr lang="zh-TW" altLang="en-US" b="1" dirty="0"/>
              <a:t>因權限問題而失敗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因為</a:t>
            </a:r>
            <a:r>
              <a:rPr lang="zh-TW" altLang="en-US" b="1" dirty="0"/>
              <a:t>建立符號連結本身就需要管理員權限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這與提權的假設互相矛盾。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334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第二個是 </a:t>
            </a:r>
            <a:r>
              <a:rPr lang="en-US" altLang="zh-TW" b="1" dirty="0"/>
              <a:t>CVE-2025-26633</a:t>
            </a:r>
          </a:p>
          <a:p>
            <a:r>
              <a:rPr lang="zh-TW" altLang="en-US" dirty="0"/>
              <a:t>這是一個 </a:t>
            </a:r>
            <a:r>
              <a:rPr lang="en-US" altLang="zh-TW" b="1" dirty="0"/>
              <a:t>MMC </a:t>
            </a:r>
            <a:r>
              <a:rPr lang="zh-TW" altLang="en-US" b="1" dirty="0"/>
              <a:t>的國際化路徑機制的 </a:t>
            </a:r>
            <a:r>
              <a:rPr lang="en-US" altLang="zh-TW" b="1" dirty="0"/>
              <a:t>SFB </a:t>
            </a:r>
            <a:r>
              <a:rPr lang="zh-TW" altLang="en-US" b="1" dirty="0"/>
              <a:t>漏洞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攻擊原理是</a:t>
            </a:r>
            <a:r>
              <a:rPr lang="zh-TW" altLang="en-US" b="1" dirty="0"/>
              <a:t>利用惡意 </a:t>
            </a:r>
            <a:r>
              <a:rPr lang="en-US" altLang="zh-TW" b="1" dirty="0"/>
              <a:t>.</a:t>
            </a:r>
            <a:r>
              <a:rPr lang="en-US" altLang="zh-TW" b="1" dirty="0" err="1"/>
              <a:t>msc</a:t>
            </a:r>
            <a:r>
              <a:rPr lang="en-US" altLang="zh-TW" b="1" dirty="0"/>
              <a:t> </a:t>
            </a:r>
            <a:r>
              <a:rPr lang="zh-TW" altLang="en-US" b="1" dirty="0"/>
              <a:t>檔案取代合法版本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但重現時因</a:t>
            </a:r>
            <a:r>
              <a:rPr lang="zh-TW" altLang="en-US" b="1" dirty="0"/>
              <a:t> </a:t>
            </a:r>
            <a:r>
              <a:rPr lang="en-US" altLang="zh-TW" b="1" dirty="0"/>
              <a:t>.</a:t>
            </a:r>
            <a:r>
              <a:rPr lang="en-US" altLang="zh-TW" b="1" dirty="0" err="1"/>
              <a:t>msc</a:t>
            </a:r>
            <a:r>
              <a:rPr lang="en-US" altLang="zh-TW" b="1" dirty="0"/>
              <a:t> </a:t>
            </a:r>
            <a:r>
              <a:rPr lang="zh-TW" altLang="en-US" b="1" dirty="0"/>
              <a:t>的建立格式錯誤而失敗。</a:t>
            </a:r>
            <a:endParaRPr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325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第三個是 </a:t>
            </a:r>
            <a:r>
              <a:rPr lang="en-US" altLang="zh-TW" b="1" dirty="0"/>
              <a:t>CVE-2025-29824</a:t>
            </a:r>
          </a:p>
          <a:p>
            <a:r>
              <a:rPr lang="zh-TW" altLang="en-US" dirty="0"/>
              <a:t>這是一個 </a:t>
            </a:r>
            <a:r>
              <a:rPr lang="en-US" altLang="zh-TW" b="1" dirty="0"/>
              <a:t>CLFS </a:t>
            </a:r>
            <a:r>
              <a:rPr lang="zh-TW" altLang="en-US" b="1" dirty="0"/>
              <a:t>的本地提權漏洞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b="1" dirty="0"/>
              <a:t>攻擊者能藉此覆寫 </a:t>
            </a:r>
            <a:r>
              <a:rPr lang="en-US" altLang="zh-TW" b="1" dirty="0"/>
              <a:t>access token </a:t>
            </a:r>
            <a:r>
              <a:rPr lang="zh-TW" altLang="en-US" b="1" dirty="0"/>
              <a:t>取得 </a:t>
            </a:r>
            <a:r>
              <a:rPr lang="en-US" altLang="zh-TW" b="1" dirty="0"/>
              <a:t>SYSTEM </a:t>
            </a:r>
            <a:r>
              <a:rPr lang="zh-TW" altLang="en-US" b="1" dirty="0"/>
              <a:t>權限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實驗中因 </a:t>
            </a:r>
            <a:r>
              <a:rPr lang="en-US" altLang="zh-TW" b="1" dirty="0"/>
              <a:t>CLFS </a:t>
            </a:r>
            <a:r>
              <a:rPr lang="zh-TW" altLang="en-US" b="1" dirty="0"/>
              <a:t>功能未正確開啟而失敗</a:t>
            </a:r>
            <a:r>
              <a:rPr lang="zh-TW" altLang="en-US" dirty="0"/>
              <a:t>，導致觸發點沒有生效。</a:t>
            </a:r>
          </a:p>
          <a:p>
            <a:endParaRPr lang="en-US" altLang="zh-TW" dirty="0"/>
          </a:p>
          <a:p>
            <a:r>
              <a:rPr lang="en-US" altLang="zh-TW" dirty="0"/>
              <a:t>---</a:t>
            </a:r>
            <a:br>
              <a:rPr lang="zh-TW" altLang="en-US" dirty="0"/>
            </a:br>
            <a:r>
              <a:rPr lang="en-US" altLang="zh-TW" dirty="0"/>
              <a:t>CLFS</a:t>
            </a:r>
            <a:r>
              <a:rPr lang="zh-TW" altLang="en-US" dirty="0"/>
              <a:t>（</a:t>
            </a:r>
            <a:r>
              <a:rPr lang="en-US" altLang="zh-TW" dirty="0"/>
              <a:t>Common Log File System</a:t>
            </a:r>
            <a:r>
              <a:rPr lang="zh-TW" altLang="en-US" dirty="0"/>
              <a:t>）是 </a:t>
            </a:r>
            <a:r>
              <a:rPr lang="en-US" altLang="zh-TW" dirty="0"/>
              <a:t>Windows </a:t>
            </a:r>
            <a:r>
              <a:rPr lang="zh-TW" altLang="en-US" dirty="0"/>
              <a:t>的核心級日誌機制，負責序列化與交易式的日誌寫入，運作於驅動程式層級。此漏洞為核心驅動中的 </a:t>
            </a:r>
            <a:r>
              <a:rPr lang="en-US" altLang="zh-TW" dirty="0"/>
              <a:t>Use-After-Free </a:t>
            </a:r>
            <a:r>
              <a:rPr lang="zh-TW" altLang="en-US" dirty="0"/>
              <a:t>類型：當驅動在釋放記憶體後仍繼續使用該區域，會產生未定義行為；若該記憶體被重新分配且攻擊者能控制其內容，就可能在核心層改寫關鍵結構。理論上，若能精準改寫與身分權杖（</a:t>
            </a:r>
            <a:r>
              <a:rPr lang="en-US" altLang="zh-TW" dirty="0"/>
              <a:t>access token</a:t>
            </a:r>
            <a:r>
              <a:rPr lang="zh-TW" altLang="en-US" dirty="0"/>
              <a:t>）相關的記憶體，就有可能把目標程序的權限改為 </a:t>
            </a:r>
            <a:r>
              <a:rPr lang="en-US" altLang="zh-TW" dirty="0"/>
              <a:t>SYSTEM</a:t>
            </a:r>
            <a:r>
              <a:rPr lang="zh-TW" altLang="en-US" dirty="0"/>
              <a:t>，進而取得更高權限並嘗試存取或轉儲 </a:t>
            </a:r>
            <a:r>
              <a:rPr lang="en-US" altLang="zh-TW" dirty="0"/>
              <a:t>LSASS </a:t>
            </a:r>
            <a:r>
              <a:rPr lang="zh-TW" altLang="en-US" dirty="0"/>
              <a:t>中的認證資料。防護上重點在於及時套用廠商修補、限制驅動安裝權限、並啟用針對核心層記憶體異常的行為偵測與憑證保護機制。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1981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最後一個是 </a:t>
            </a:r>
            <a:r>
              <a:rPr lang="en-US" altLang="zh-TW" b="1" dirty="0"/>
              <a:t>CVE-2025-49667</a:t>
            </a:r>
            <a:r>
              <a:rPr lang="zh-TW" altLang="en-US" b="0" dirty="0"/>
              <a:t>，</a:t>
            </a:r>
            <a:endParaRPr lang="en-US" altLang="zh-TW" b="0" dirty="0"/>
          </a:p>
          <a:p>
            <a:r>
              <a:rPr lang="zh-TW" altLang="en-US" dirty="0"/>
              <a:t>這是 </a:t>
            </a:r>
            <a:r>
              <a:rPr lang="en-US" altLang="zh-TW" b="1" dirty="0"/>
              <a:t>Win32K </a:t>
            </a:r>
            <a:r>
              <a:rPr lang="zh-TW" altLang="en-US" b="1" dirty="0"/>
              <a:t>子系統的本地提權漏洞</a:t>
            </a:r>
            <a:r>
              <a:rPr lang="zh-TW" altLang="en-US" dirty="0"/>
              <a:t>。</a:t>
            </a:r>
            <a:br>
              <a:rPr lang="zh-TW" altLang="en-US" dirty="0"/>
            </a:br>
            <a:endParaRPr lang="en-US" altLang="zh-TW" dirty="0"/>
          </a:p>
          <a:p>
            <a:r>
              <a:rPr lang="zh-TW" altLang="en-US" dirty="0"/>
              <a:t>而 </a:t>
            </a:r>
            <a:r>
              <a:rPr lang="en-US" altLang="zh-TW" dirty="0"/>
              <a:t>LLM </a:t>
            </a:r>
            <a:r>
              <a:rPr lang="zh-TW" altLang="en-US" dirty="0"/>
              <a:t>在分析時</a:t>
            </a:r>
            <a:r>
              <a:rPr lang="zh-TW" altLang="en-US" b="1" dirty="0"/>
              <a:t>誤認為需人工互動</a:t>
            </a:r>
            <a:r>
              <a:rPr lang="zh-TW" altLang="en-US" dirty="0"/>
              <a:t>，但公開的 </a:t>
            </a:r>
            <a:r>
              <a:rPr lang="en-US" altLang="zh-TW" dirty="0"/>
              <a:t>PoC </a:t>
            </a:r>
            <a:r>
              <a:rPr lang="zh-TW" altLang="en-US" dirty="0"/>
              <a:t>證實其為非互動式。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此外，</a:t>
            </a:r>
            <a:r>
              <a:rPr lang="en-US" altLang="zh-TW" dirty="0"/>
              <a:t>LLM </a:t>
            </a:r>
            <a:r>
              <a:rPr lang="zh-TW" altLang="en-US" dirty="0"/>
              <a:t>嘗試以高權限執行程式，這與提權邏輯互相矛盾，</a:t>
            </a:r>
          </a:p>
          <a:p>
            <a:r>
              <a:rPr lang="zh-TW" altLang="en-US" dirty="0"/>
              <a:t>因此最終也未能成功重現。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---</a:t>
            </a:r>
          </a:p>
          <a:p>
            <a:r>
              <a:rPr lang="en-US" altLang="zh-TW" dirty="0"/>
              <a:t>MMC</a:t>
            </a:r>
            <a:r>
              <a:rPr lang="zh-TW" altLang="en-US" dirty="0"/>
              <a:t>（</a:t>
            </a:r>
            <a:r>
              <a:rPr lang="en-US" altLang="zh-TW" dirty="0"/>
              <a:t>Microsoft Management Console</a:t>
            </a:r>
            <a:r>
              <a:rPr lang="zh-TW" altLang="en-US" dirty="0"/>
              <a:t>）以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msc</a:t>
            </a:r>
            <a:r>
              <a:rPr lang="zh-TW" altLang="en-US" dirty="0"/>
              <a:t> 配置檔載入管理單元（</a:t>
            </a:r>
            <a:r>
              <a:rPr lang="en-US" altLang="zh-TW" dirty="0"/>
              <a:t>snap-ins</a:t>
            </a:r>
            <a:r>
              <a:rPr lang="zh-TW" altLang="en-US" dirty="0"/>
              <a:t>），而 </a:t>
            </a:r>
            <a:r>
              <a:rPr lang="en-US" altLang="zh-TW" dirty="0"/>
              <a:t>MUI</a:t>
            </a:r>
            <a:r>
              <a:rPr lang="zh-TW" altLang="en-US" dirty="0"/>
              <a:t>（</a:t>
            </a:r>
            <a:r>
              <a:rPr lang="en-US" altLang="zh-TW" dirty="0"/>
              <a:t>Multilingual User Interface</a:t>
            </a:r>
            <a:r>
              <a:rPr lang="zh-TW" altLang="en-US" dirty="0"/>
              <a:t>）機制則決定系統如何依語系載入對應的資源（例如放在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-US\</a:t>
            </a:r>
            <a:r>
              <a:rPr lang="zh-TW" altLang="en-US" dirty="0"/>
              <a:t> 的語系子目錄或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mui</a:t>
            </a:r>
            <a:r>
              <a:rPr lang="zh-TW" altLang="en-US" dirty="0"/>
              <a:t> 檔）。</a:t>
            </a:r>
            <a:r>
              <a:rPr lang="en-US" altLang="zh-TW" dirty="0" err="1"/>
              <a:t>MUIPath</a:t>
            </a:r>
            <a:r>
              <a:rPr lang="en-US" altLang="zh-TW" dirty="0"/>
              <a:t> </a:t>
            </a:r>
            <a:r>
              <a:rPr lang="zh-TW" altLang="en-US" dirty="0"/>
              <a:t>指的是系統在尋找與載入語系資源時的路徑解析與優先順序。若應用在載入資源或控制台檔時未採用安全的路徑檢查或簽章驗證，且某些語系子目錄可被非授權寫入，攻擊者可利用路徑優先順序將惡意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msc</a:t>
            </a:r>
            <a:r>
              <a:rPr lang="en-US" altLang="zh-TW" dirty="0"/>
              <a:t>/</a:t>
            </a:r>
            <a:r>
              <a:rPr lang="zh-TW" altLang="en-US" dirty="0"/>
              <a:t>資源放置於優先被查找的位置，使 </a:t>
            </a:r>
            <a:r>
              <a:rPr lang="en-US" altLang="zh-TW" dirty="0"/>
              <a:t>MMC </a:t>
            </a:r>
            <a:r>
              <a:rPr lang="zh-TW" altLang="en-US" dirty="0"/>
              <a:t>載入並執行錯誤的內容，造成安全繞過或遠端</a:t>
            </a:r>
            <a:r>
              <a:rPr lang="en-US" altLang="zh-TW" dirty="0"/>
              <a:t>/</a:t>
            </a:r>
            <a:r>
              <a:rPr lang="zh-TW" altLang="en-US" dirty="0"/>
              <a:t>本地代碼執行。值得注意的是，系統的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MUILanguage</a:t>
            </a:r>
            <a:r>
              <a:rPr lang="zh-TW" altLang="en-US" dirty="0"/>
              <a:t> 主要影響介面語言顯示，並不決定哪個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msc</a:t>
            </a:r>
            <a:r>
              <a:rPr lang="zh-TW" altLang="en-US" dirty="0"/>
              <a:t> 檔案被載入；防護措施包括限制語系資料夾的寫入權限、對載入檔案做簽章檢查，以及在應用端採用絕對與受信任的資源載入邏輯。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0180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我們進行重現結果總結，如下表所示</a:t>
            </a:r>
            <a:endParaRPr lang="en-US" altLang="zh-TW" b="1" dirty="0"/>
          </a:p>
          <a:p>
            <a:r>
              <a:rPr lang="zh-TW" altLang="en-US" dirty="0"/>
              <a:t>整體來看，</a:t>
            </a:r>
            <a:r>
              <a:rPr lang="zh-TW" altLang="en-US" b="1" dirty="0"/>
              <a:t>五個案例都是部分重現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此外，我們發現</a:t>
            </a:r>
            <a:r>
              <a:rPr lang="zh-TW" altLang="en-US" b="1" dirty="0"/>
              <a:t> </a:t>
            </a:r>
            <a:r>
              <a:rPr lang="en-US" altLang="zh-TW" b="1" dirty="0"/>
              <a:t>LLM </a:t>
            </a:r>
            <a:r>
              <a:rPr lang="zh-TW" altLang="en-US" b="1" dirty="0"/>
              <a:t>在「程序輔助」與「知識整合」方面確實具備潛力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可是在</a:t>
            </a:r>
            <a:r>
              <a:rPr lang="zh-TW" altLang="en-US" b="1" dirty="0"/>
              <a:t>產生 </a:t>
            </a:r>
            <a:r>
              <a:rPr lang="en-US" altLang="zh-TW" b="1" dirty="0"/>
              <a:t>exploit </a:t>
            </a:r>
            <a:r>
              <a:rPr lang="zh-TW" altLang="en-US" b="1" dirty="0"/>
              <a:t>程式碼上仍存在明顯落差</a:t>
            </a:r>
            <a:r>
              <a:rPr lang="zh-TW" altLang="en-US" dirty="0"/>
              <a:t>，多半停留在理論層級。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7317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經過討論後，我們推測主因在於</a:t>
            </a:r>
            <a:r>
              <a:rPr lang="zh-TW" altLang="en-US" b="1" dirty="0"/>
              <a:t>嚴格的環境前置條件未能滿足，還有 </a:t>
            </a:r>
            <a:r>
              <a:rPr lang="en-US" altLang="zh-TW" b="1" dirty="0"/>
              <a:t>LLM</a:t>
            </a:r>
            <a:r>
              <a:rPr lang="zh-TW" altLang="en-US" b="1" dirty="0"/>
              <a:t> 預訓練資料不足</a:t>
            </a:r>
            <a:r>
              <a:rPr lang="zh-TW" altLang="en-US" dirty="0"/>
              <a:t>，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 dirty="0"/>
              <a:t>未來可以往「擴充 </a:t>
            </a:r>
            <a:r>
              <a:rPr lang="en-US" altLang="zh-TW" b="1" dirty="0"/>
              <a:t>MCP server</a:t>
            </a:r>
            <a:r>
              <a:rPr lang="zh-TW" altLang="en-US" b="1" dirty="0"/>
              <a:t> 模組」以及「對研究型 </a:t>
            </a:r>
            <a:r>
              <a:rPr lang="en-US" altLang="zh-TW" b="1" dirty="0"/>
              <a:t>LLM</a:t>
            </a:r>
            <a:r>
              <a:rPr lang="zh-TW" altLang="en-US" b="1" dirty="0"/>
              <a:t> 微調」做改進。</a:t>
            </a:r>
            <a:endParaRPr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0099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最後，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dirty="0"/>
              <a:t>我們所有的程式碼與資料都已上傳到 </a:t>
            </a:r>
            <a:r>
              <a:rPr lang="en-US" altLang="zh-TW" dirty="0"/>
              <a:t>GitHub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歡迎各位有興趣的老師、與會來賓參考。</a:t>
            </a:r>
          </a:p>
          <a:p>
            <a:endParaRPr lang="en-US" altLang="zh-TW" dirty="0"/>
          </a:p>
          <a:p>
            <a:r>
              <a:rPr lang="zh-TW" altLang="en-US" dirty="0"/>
              <a:t>以上是我們的報告，感謝各位的聆聽，</a:t>
            </a:r>
            <a:endParaRPr lang="en-US" altLang="zh-TW" dirty="0"/>
          </a:p>
          <a:p>
            <a:r>
              <a:rPr lang="zh-TW" altLang="en-US" dirty="0"/>
              <a:t>也歡迎大家提出任何問題或建議。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82B87-141F-4D6E-9ECF-232F46E650E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459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4C2E7B-7613-9FBE-A61F-39786BD71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F654F4-5AA2-BEA8-9F35-FA67CFAC9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8C91CD-EA17-4170-B2DA-5558C4F8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0DD23B-0ACF-67CE-11C5-D7F8553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8BDFF-C072-4CA3-816E-42EB3537D3CB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02816D-E454-EE0F-F965-10923D44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7256" y="6428011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62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0553C-FDAC-4843-E80A-1F81B28B3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1444E7-06E4-428E-F9BB-049D33AA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4572967"/>
          </a:xfrm>
        </p:spPr>
        <p:txBody>
          <a:bodyPr>
            <a:normAutofit/>
          </a:bodyPr>
          <a:lstStyle>
            <a:lvl1pPr algn="just">
              <a:defRPr sz="2400"/>
            </a:lvl1pPr>
            <a:lvl2pPr algn="just">
              <a:defRPr sz="2000"/>
            </a:lvl2pPr>
            <a:lvl3pPr algn="just">
              <a:defRPr sz="1600"/>
            </a:lvl3pPr>
            <a:lvl4pPr algn="just">
              <a:defRPr sz="1600"/>
            </a:lvl4pPr>
            <a:lvl5pPr algn="just"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90CB1B-6297-5FE5-5A57-2BD3BA13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BDBB-D1B7-4FF1-B636-3D472C6C65A2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EB71DC-F52B-BB20-8315-BED936E7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D1CE03D5-8523-5795-2F46-E514224D0BF5}"/>
              </a:ext>
            </a:extLst>
          </p:cNvPr>
          <p:cNvSpPr txBox="1">
            <a:spLocks/>
          </p:cNvSpPr>
          <p:nvPr userDrawn="1"/>
        </p:nvSpPr>
        <p:spPr>
          <a:xfrm>
            <a:off x="9387256" y="642801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r" defTabSz="914400" rtl="0" eaLnBrk="1" latinLnBrk="0" hangingPunct="1">
              <a:defRPr sz="16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213A5F-9753-4B5F-AD93-BE94BD5F222A}" type="slidenum">
              <a:rPr lang="zh-TW" altLang="en-US" sz="2000" baseline="0" smtClean="0">
                <a:ea typeface="標楷體" panose="03000509000000000000" pitchFamily="65" charset="-120"/>
              </a:rPr>
              <a:pPr/>
              <a:t>‹#›</a:t>
            </a:fld>
            <a:endParaRPr lang="zh-TW" altLang="en-US" sz="2000" baseline="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057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B2218-3CAB-3E29-F1B7-61D62E20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0072E4-08A3-AF8C-3A87-939633B60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2EA3A6-930E-06F4-08F8-81A2FBCB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0B60-14E0-49BC-8EBF-6C707B52D039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42A250-6B98-E502-1E7F-C22C6F3D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F9EDE1-32D4-C90A-A3AC-022DB440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166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F8D1D-1B5B-F3E3-3D26-04BD5AB2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5FD837-DE3E-664B-AFEC-9A2ADD55B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9B7E01-C801-66C7-5972-BA187E271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34C07F-542F-454B-9CC7-2C14BA70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0D1A-71AD-4535-92FF-8B80A510F2F1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3A25D3-FCE9-05EE-0E54-E92AC3C3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957C4D-15DC-1C36-7455-2BA4557A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50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C11FF-C34F-125D-DD69-4A8BBF9B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674E2E-386F-5E0C-DE49-E68784174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C2BAD1-8BFA-D311-5EA0-30A59ED7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4B61019-2F24-4281-7A45-B5944B829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B0BA66F-4A36-83B8-862C-A62EC57F5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CBEFB62-8E7D-8B59-3438-474E7CD38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0BE8-9256-4AF6-96E0-4FDABB9C1FC5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7F9209D-A6E4-5E56-888F-D996174F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2C64A85-49E0-0196-B905-220DF00F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10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0FC56-79DA-E536-C461-D95A513B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C44BA-7128-8B6D-2F44-1783119B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50E8F-E775-48F6-BBF4-0FD1BF0B50D6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0D27736-CE3E-22BC-3F5A-0D87A8E2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880309-8EDB-13E9-0D85-2AE958DE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76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F12AEC-DA5F-6FEF-D7D9-C5FFBB26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7921B-87D7-4EF7-A1D3-6138E4ACDA01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165D053-8FBA-FA13-B869-E25950D0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C82F9F-F6F7-D936-2AF3-049675F8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65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D1C25-F705-CFF4-38B2-72384143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D9B220-3921-58F3-BD87-EE2C88E34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1B5393-219A-075F-4186-3D201638A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42F86A-5523-3BB7-A4C0-ABBAE43C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59BC-D4EA-4118-A2C4-10C5A82619D1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9F6819-C49D-A759-8593-3F46706B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8A0436-50FD-ADDD-1DD4-E9499CB2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33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872BCA-658C-9EFB-05A6-3F375DA3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BB1C359-1B52-B396-58D9-3B7631EBB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BF17DD-B9D6-1BBA-3167-BDF49CAAA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646D3-DBCD-78DC-AF67-A5D5CE4B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C9F6D-0E38-4051-AFED-2AA3623D3063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5AFE9E-5168-095E-A69C-2DE25DBD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370174-22A9-4DAD-5EE3-4FA72AFC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154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5EEA95-AEEE-8ECB-B832-AF8AD956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6F3485-D7D9-BD4A-B78C-8258ADD6E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2A49F3-B302-EFF5-4CA4-888FAA9A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AF539-3B09-4B81-8538-1F3A40638EF1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54E224-7667-CC67-9293-121DC973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5B465-1877-9BCA-B597-79B071FA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27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A48B329-CF94-2208-7204-10F5268DB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B6CA61E-2268-5594-2716-24F2F2A82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28B921-B892-A0E5-A3C1-9DB0FA05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DA98-7E10-4001-8633-F2BD29AA1FF3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7BA7E-6457-538F-AEA1-4A02C554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D85102-F81E-E7BD-BE22-553FED6D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213A5F-9753-4B5F-AD93-BE94BD5F22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00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21ECB366-DE46-D199-4E3D-9AA81B25AF84}"/>
              </a:ext>
            </a:extLst>
          </p:cNvPr>
          <p:cNvSpPr/>
          <p:nvPr userDrawn="1"/>
        </p:nvSpPr>
        <p:spPr>
          <a:xfrm>
            <a:off x="0" y="3429000"/>
            <a:ext cx="2743200" cy="3429000"/>
          </a:xfrm>
          <a:prstGeom prst="rt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CA1C3DB0-3B9C-6B3D-135A-68A797DDABE7}"/>
              </a:ext>
            </a:extLst>
          </p:cNvPr>
          <p:cNvSpPr/>
          <p:nvPr userDrawn="1"/>
        </p:nvSpPr>
        <p:spPr>
          <a:xfrm rot="10800000" flipH="1">
            <a:off x="0" y="-9"/>
            <a:ext cx="1524000" cy="5257807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9A71C812-6FDE-01A4-3BE2-288E557329E1}"/>
              </a:ext>
            </a:extLst>
          </p:cNvPr>
          <p:cNvSpPr/>
          <p:nvPr userDrawn="1"/>
        </p:nvSpPr>
        <p:spPr>
          <a:xfrm flipH="1">
            <a:off x="11353800" y="6005146"/>
            <a:ext cx="838200" cy="852854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CCC9C4-96D3-3C89-D9F4-D3AC52FB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783282-6226-2408-5216-7442A885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51DCE1-D2A8-A629-C66A-590CC96D6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838E9A4-9139-4D75-A24C-860BD3728728}" type="datetime1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957CB-1CE6-E177-D5C4-54340B2BD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pic>
        <p:nvPicPr>
          <p:cNvPr id="7" name="Picture 2" descr="台科logo-08">
            <a:extLst>
              <a:ext uri="{FF2B5EF4-FFF2-40B4-BE49-F238E27FC236}">
                <a16:creationId xmlns:a16="http://schemas.microsoft.com/office/drawing/2014/main" id="{9ECBE9B6-148D-94E6-C1A0-0951992993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1" y="6356350"/>
            <a:ext cx="2257762" cy="4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CE0AC80B-2F25-C02A-044C-244E27C13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87256" y="642801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600" b="1" baseline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E2213A5F-9753-4B5F-AD93-BE94BD5F22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76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ve.org/About/Metric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rpa.mil/news/2016/mayhem-winner-cyber-grand-challeng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red.com/2016/08/security-bots-show-hacking-isnt-just-human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-agent/SWE-ag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news/model-context-protoco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github.com/qAq221102/LLM-Agent-Based-CVE-Automation-Experiments-and-Reflec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CA590412-6065-D6E3-2E21-BCE4512509A3}"/>
              </a:ext>
            </a:extLst>
          </p:cNvPr>
          <p:cNvGrpSpPr/>
          <p:nvPr/>
        </p:nvGrpSpPr>
        <p:grpSpPr>
          <a:xfrm>
            <a:off x="6264613" y="-403421"/>
            <a:ext cx="6426122" cy="3623239"/>
            <a:chOff x="5077838" y="0"/>
            <a:chExt cx="7315200" cy="4124528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AA5C1A27-CF0E-4BAF-DA59-76BA234C6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568" y="0"/>
              <a:ext cx="7298987" cy="4105681"/>
            </a:xfrm>
            <a:prstGeom prst="rect">
              <a:avLst/>
            </a:prstGeom>
            <a:ln>
              <a:noFill/>
            </a:ln>
            <a:effectLst>
              <a:softEdge rad="762000"/>
            </a:effectLst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0925BA2-63BF-D8D8-F404-F5219161D0B9}"/>
                </a:ext>
              </a:extLst>
            </p:cNvPr>
            <p:cNvSpPr/>
            <p:nvPr/>
          </p:nvSpPr>
          <p:spPr>
            <a:xfrm>
              <a:off x="5077838" y="0"/>
              <a:ext cx="7315200" cy="4124528"/>
            </a:xfrm>
            <a:prstGeom prst="rect">
              <a:avLst/>
            </a:prstGeom>
            <a:solidFill>
              <a:srgbClr val="F2F2F2">
                <a:alpha val="7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FF5232D7-9851-6AFC-97DE-5867B41C1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652" y="2159159"/>
            <a:ext cx="9998696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1" dirty="0"/>
              <a:t>LLM </a:t>
            </a:r>
            <a:r>
              <a:rPr lang="zh-TW" altLang="en-US" sz="4400" b="1" dirty="0"/>
              <a:t>代理人基礎的 </a:t>
            </a:r>
            <a:r>
              <a:rPr lang="en-US" altLang="zh-TW" sz="4400" b="1" dirty="0"/>
              <a:t>CVE </a:t>
            </a:r>
            <a:r>
              <a:rPr lang="zh-TW" altLang="en-US" sz="4400" b="1" dirty="0"/>
              <a:t>自動化：</a:t>
            </a:r>
            <a:br>
              <a:rPr lang="en-US" altLang="zh-TW" sz="4400" b="1" dirty="0"/>
            </a:br>
            <a:r>
              <a:rPr lang="zh-TW" altLang="en-US" sz="4400" b="1" dirty="0"/>
              <a:t>嘗試與反思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5C3B7A6-4515-2D14-DFDC-50F632010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6404" y="4606668"/>
            <a:ext cx="2052000" cy="719171"/>
          </a:xfrm>
          <a:ln>
            <a:noFill/>
          </a:ln>
        </p:spPr>
        <p:txBody>
          <a:bodyPr>
            <a:spAutoFit/>
          </a:bodyPr>
          <a:lstStyle/>
          <a:p>
            <a:r>
              <a:rPr lang="zh-TW" altLang="en-US" sz="1800" dirty="0"/>
              <a:t>江俋陞</a:t>
            </a:r>
            <a:endParaRPr lang="en-US" altLang="zh-TW" sz="1800" dirty="0"/>
          </a:p>
          <a:p>
            <a:r>
              <a:rPr lang="zh-TW" altLang="en-US" sz="1800" dirty="0"/>
              <a:t>國立臺灣科技大學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F6246726-947B-C698-516E-ECBFA9DB5E6A}"/>
              </a:ext>
            </a:extLst>
          </p:cNvPr>
          <p:cNvSpPr txBox="1">
            <a:spLocks/>
          </p:cNvSpPr>
          <p:nvPr/>
        </p:nvSpPr>
        <p:spPr>
          <a:xfrm>
            <a:off x="3276404" y="4606668"/>
            <a:ext cx="2052000" cy="71917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吳昱葶</a:t>
            </a:r>
            <a:endParaRPr lang="en-US" altLang="zh-TW" sz="1800" dirty="0"/>
          </a:p>
          <a:p>
            <a:r>
              <a:rPr lang="zh-TW" altLang="en-US" sz="1800" dirty="0"/>
              <a:t>國立臺灣科技大學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61384C0-9E20-A4BA-B0AC-1335ADB8D973}"/>
              </a:ext>
            </a:extLst>
          </p:cNvPr>
          <p:cNvSpPr txBox="1">
            <a:spLocks/>
          </p:cNvSpPr>
          <p:nvPr/>
        </p:nvSpPr>
        <p:spPr>
          <a:xfrm>
            <a:off x="5436404" y="4606668"/>
            <a:ext cx="2052000" cy="71917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周伯翰</a:t>
            </a:r>
            <a:endParaRPr lang="en-US" altLang="zh-TW" sz="1800" dirty="0"/>
          </a:p>
          <a:p>
            <a:r>
              <a:rPr lang="zh-TW" altLang="en-US" sz="1800" dirty="0"/>
              <a:t>國立臺灣科技大學</a:t>
            </a: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3A614A9B-6B68-E6E5-45BD-143396B2FFA4}"/>
              </a:ext>
            </a:extLst>
          </p:cNvPr>
          <p:cNvSpPr txBox="1">
            <a:spLocks/>
          </p:cNvSpPr>
          <p:nvPr/>
        </p:nvSpPr>
        <p:spPr>
          <a:xfrm>
            <a:off x="9072404" y="4606667"/>
            <a:ext cx="2052000" cy="71917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黃意婷</a:t>
            </a:r>
            <a:endParaRPr lang="en-US" altLang="zh-TW" sz="1800" dirty="0"/>
          </a:p>
          <a:p>
            <a:r>
              <a:rPr lang="zh-TW" altLang="en-US" sz="1800" dirty="0"/>
              <a:t>國立臺灣科技大學</a:t>
            </a:r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78A4EBFD-87D0-9AB2-0923-F52574D2ABAC}"/>
              </a:ext>
            </a:extLst>
          </p:cNvPr>
          <p:cNvSpPr txBox="1">
            <a:spLocks/>
          </p:cNvSpPr>
          <p:nvPr/>
        </p:nvSpPr>
        <p:spPr>
          <a:xfrm>
            <a:off x="7596404" y="4606667"/>
            <a:ext cx="1368000" cy="71917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陳孟彰</a:t>
            </a:r>
            <a:endParaRPr lang="en-US" altLang="zh-TW" sz="1800" dirty="0"/>
          </a:p>
          <a:p>
            <a:r>
              <a:rPr lang="zh-TW" altLang="en-US" sz="1800" dirty="0"/>
              <a:t>中央研究院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1EBED9B5-908A-E6D6-4DED-93125FDF1B23}"/>
              </a:ext>
            </a:extLst>
          </p:cNvPr>
          <p:cNvSpPr txBox="1">
            <a:spLocks/>
          </p:cNvSpPr>
          <p:nvPr/>
        </p:nvSpPr>
        <p:spPr>
          <a:xfrm>
            <a:off x="1825487" y="5775952"/>
            <a:ext cx="8541026" cy="3416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b="1" dirty="0"/>
              <a:t>關鍵詞：</a:t>
            </a:r>
            <a:r>
              <a:rPr lang="en-US" altLang="zh-TW" sz="1800" dirty="0"/>
              <a:t>Model Context Protocol</a:t>
            </a:r>
            <a:r>
              <a:rPr lang="zh-TW" altLang="en-US" sz="1800" dirty="0"/>
              <a:t>，</a:t>
            </a:r>
            <a:r>
              <a:rPr lang="en-US" altLang="zh-TW" sz="1800" dirty="0"/>
              <a:t>Cline</a:t>
            </a:r>
            <a:r>
              <a:rPr lang="zh-TW" altLang="en-US" sz="1800" dirty="0"/>
              <a:t>，</a:t>
            </a:r>
            <a:r>
              <a:rPr lang="en-US" altLang="zh-TW" sz="1800" dirty="0"/>
              <a:t>AI </a:t>
            </a:r>
            <a:r>
              <a:rPr lang="zh-TW" altLang="en-US" sz="1800" dirty="0"/>
              <a:t>代理，自動化漏洞重現，資訊安全</a:t>
            </a:r>
          </a:p>
        </p:txBody>
      </p:sp>
    </p:spTree>
    <p:extLst>
      <p:ext uri="{BB962C8B-B14F-4D97-AF65-F5344CB8AC3E}">
        <p14:creationId xmlns:p14="http://schemas.microsoft.com/office/powerpoint/2010/main" val="1943224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25BFB-AC04-5F12-F601-996C3A61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DB930-FC61-685E-C13C-96775027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前言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625326A6-015C-5030-FA8D-85333624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5301100" cy="4369594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資訊安全的挑戰與背景：</a:t>
            </a:r>
            <a:endParaRPr lang="en-US" altLang="zh-TW" sz="2000" dirty="0"/>
          </a:p>
          <a:p>
            <a:pPr marL="720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近年來，隨著</a:t>
            </a:r>
            <a:r>
              <a:rPr lang="zh-TW" altLang="en-US" sz="1800" b="1" dirty="0"/>
              <a:t>數位化與網路服務的普及</a:t>
            </a:r>
            <a:r>
              <a:rPr lang="zh-TW" altLang="en-US" sz="1800" dirty="0"/>
              <a:t>，資訊安全已成為全球最受關注的議題之一</a:t>
            </a:r>
            <a:br>
              <a:rPr lang="zh-TW" altLang="en-US" sz="1800" dirty="0"/>
            </a:br>
            <a:r>
              <a:rPr lang="zh-TW" altLang="en-US" sz="1800" dirty="0"/>
              <a:t>現今軟體系統日益複雜，</a:t>
            </a:r>
            <a:r>
              <a:rPr lang="zh-TW" altLang="en-US" sz="1800" dirty="0">
                <a:solidFill>
                  <a:srgbClr val="C00000"/>
                </a:solidFill>
              </a:rPr>
              <a:t>安全漏洞 </a:t>
            </a:r>
            <a:r>
              <a:rPr lang="en-US" altLang="zh-TW" sz="1800" dirty="0">
                <a:solidFill>
                  <a:srgbClr val="C00000"/>
                </a:solidFill>
              </a:rPr>
              <a:t>(CVE, Common Vulnerabilities and Exposures)</a:t>
            </a:r>
            <a:r>
              <a:rPr lang="zh-TW" altLang="en-US" sz="1800" dirty="0">
                <a:solidFill>
                  <a:srgbClr val="C00000"/>
                </a:solidFill>
              </a:rPr>
              <a:t> 數量持續快速增加</a:t>
            </a:r>
            <a:r>
              <a:rPr lang="zh-TW" altLang="en-US" sz="1800" dirty="0"/>
              <a:t>，顯示軟體供應鏈與應用生態系正面臨前所未有的挑戰</a:t>
            </a:r>
          </a:p>
          <a:p>
            <a:pPr marL="720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b="1" dirty="0"/>
              <a:t>漏洞修補與緩解速度遠不及發現速度</a:t>
            </a:r>
            <a:r>
              <a:rPr lang="zh-TW" altLang="en-US" sz="1800" dirty="0"/>
              <a:t>，使得攻擊者能利用尚未修補或通報延遲的弱點進行入侵，形成資安防禦上的重大落差。這樣的情況使得</a:t>
            </a:r>
            <a:r>
              <a:rPr lang="zh-TW" altLang="en-US" sz="1800" dirty="0">
                <a:solidFill>
                  <a:srgbClr val="0070C0"/>
                </a:solidFill>
              </a:rPr>
              <a:t>資安研究人員亟需新的自動化技術，以加速漏洞分析、驗證與修補流程</a:t>
            </a:r>
            <a:endParaRPr lang="en-US" altLang="zh-TW" sz="1800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DDF82A9-85A6-FBB7-9B51-2AC3864A30F9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D2271836-B1D6-1022-A835-6BB132446BBE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26BEC049-6318-643B-89A2-0CF0E784590B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1BBB14E-FB97-DE05-114D-566C613CBF44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E6282B2-9571-5D6E-0788-3977B1D9FCB3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7575B150-4B0B-960D-D3AC-A9696E2043A6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4C1CE439-3C41-C6F2-25DC-C4B35357F525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720BDBE-76D6-B1D3-6FB2-231FE00B6036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F328A67-3D02-68A5-0847-4AB8C4EB8F28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9F69FB8-A0B8-E877-EB9E-072940A4FFE0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735BF62F-7693-0C7D-4B9E-215348814E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0932310"/>
              </p:ext>
            </p:extLst>
          </p:nvPr>
        </p:nvGraphicFramePr>
        <p:xfrm>
          <a:off x="6617683" y="1356819"/>
          <a:ext cx="5183118" cy="44651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EAFAF87A-DECC-BCD8-B314-49268369A441}"/>
              </a:ext>
            </a:extLst>
          </p:cNvPr>
          <p:cNvGrpSpPr/>
          <p:nvPr/>
        </p:nvGrpSpPr>
        <p:grpSpPr>
          <a:xfrm>
            <a:off x="3673905" y="5929787"/>
            <a:ext cx="5630120" cy="677108"/>
            <a:chOff x="2768882" y="5644185"/>
            <a:chExt cx="5827237" cy="677108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39A351E-79BD-2942-6A90-34CC6A8A33E4}"/>
                </a:ext>
              </a:extLst>
            </p:cNvPr>
            <p:cNvSpPr txBox="1"/>
            <p:nvPr/>
          </p:nvSpPr>
          <p:spPr>
            <a:xfrm>
              <a:off x="2768882" y="5644185"/>
              <a:ext cx="54623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資料來源：</a:t>
              </a:r>
              <a:r>
                <a: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CVE </a:t>
              </a:r>
              <a:r>
                <a: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官方紀錄 </a:t>
              </a:r>
              <a:r>
                <a: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hlinkClick r:id="rId4"/>
                </a:rPr>
                <a:t>https://www.cve.org/About/Metrics</a:t>
              </a:r>
              <a:endPara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4DFF41BC-EC6B-EEED-AE87-46366EE7947D}"/>
                </a:ext>
              </a:extLst>
            </p:cNvPr>
            <p:cNvSpPr txBox="1"/>
            <p:nvPr/>
          </p:nvSpPr>
          <p:spPr>
            <a:xfrm>
              <a:off x="2768882" y="5982739"/>
              <a:ext cx="5827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>
                  <a:latin typeface="Times New Roman" panose="02020603050405020304" pitchFamily="18" charset="0"/>
                  <a:ea typeface="標楷體" panose="03000509000000000000" pitchFamily="65" charset="-120"/>
                </a:defRPr>
              </a:lvl1pPr>
            </a:lstStyle>
            <a:p>
              <a:r>
                <a:rPr lang="en-US" altLang="zh-TW" sz="1600" dirty="0"/>
                <a:t>※ 2025 </a:t>
              </a:r>
              <a:r>
                <a:rPr lang="zh-TW" altLang="en-US" sz="1600" dirty="0"/>
                <a:t>年數據統計至第 </a:t>
              </a:r>
              <a:r>
                <a:rPr lang="en-US" altLang="zh-TW" sz="1600" dirty="0"/>
                <a:t>2 </a:t>
              </a:r>
              <a:r>
                <a:rPr lang="zh-TW" altLang="en-US" sz="1600" dirty="0"/>
                <a:t>季，未含全年資料，已達</a:t>
              </a:r>
              <a:r>
                <a:rPr lang="zh-TW" altLang="en-US" sz="1600" dirty="0">
                  <a:solidFill>
                    <a:srgbClr val="FF0000"/>
                  </a:solidFill>
                </a:rPr>
                <a:t> </a:t>
              </a:r>
              <a:r>
                <a:rPr lang="en-US" altLang="zh-TW" sz="1600" dirty="0">
                  <a:solidFill>
                    <a:srgbClr val="C00000"/>
                  </a:solidFill>
                </a:rPr>
                <a:t>23710</a:t>
              </a:r>
              <a:r>
                <a:rPr lang="zh-TW" altLang="en-US" sz="1600" dirty="0">
                  <a:solidFill>
                    <a:srgbClr val="FF0000"/>
                  </a:solidFill>
                </a:rPr>
                <a:t> </a:t>
              </a:r>
              <a:r>
                <a:rPr lang="zh-TW" altLang="en-US" sz="1600" dirty="0"/>
                <a:t>筆</a:t>
              </a: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2BA217-15AD-7EEC-AD85-69102C077483}"/>
              </a:ext>
            </a:extLst>
          </p:cNvPr>
          <p:cNvSpPr txBox="1"/>
          <p:nvPr/>
        </p:nvSpPr>
        <p:spPr>
          <a:xfrm>
            <a:off x="8300155" y="4570694"/>
            <a:ext cx="3278983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b="1" dirty="0"/>
              <a:t>漏洞揭露的數量逐年增加</a:t>
            </a:r>
            <a:endParaRPr lang="en-US" altLang="zh-TW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800" b="1" dirty="0"/>
              <a:t>凸顯出自動化分析的重要性</a:t>
            </a:r>
            <a:endParaRPr lang="zh-TW" altLang="en-US" sz="1800" dirty="0"/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4D929FA3-3A7E-D084-2F8D-36D9C59A3C0D}"/>
              </a:ext>
            </a:extLst>
          </p:cNvPr>
          <p:cNvSpPr/>
          <p:nvPr/>
        </p:nvSpPr>
        <p:spPr>
          <a:xfrm rot="14401722">
            <a:off x="8710657" y="1510964"/>
            <a:ext cx="561775" cy="2949424"/>
          </a:xfrm>
          <a:prstGeom prst="downArrow">
            <a:avLst>
              <a:gd name="adj1" fmla="val 44111"/>
              <a:gd name="adj2" fmla="val 96581"/>
            </a:avLst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爆炸: 八角 6">
            <a:extLst>
              <a:ext uri="{FF2B5EF4-FFF2-40B4-BE49-F238E27FC236}">
                <a16:creationId xmlns:a16="http://schemas.microsoft.com/office/drawing/2014/main" id="{E1FD79BD-15B0-5037-AA3A-A889A7E04C56}"/>
              </a:ext>
            </a:extLst>
          </p:cNvPr>
          <p:cNvSpPr/>
          <p:nvPr/>
        </p:nvSpPr>
        <p:spPr>
          <a:xfrm>
            <a:off x="6503361" y="2005633"/>
            <a:ext cx="2835659" cy="114396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</a:rPr>
              <a:t>成長約 </a:t>
            </a:r>
            <a:r>
              <a:rPr lang="en-US" altLang="zh-TW" b="1" dirty="0">
                <a:solidFill>
                  <a:srgbClr val="C00000"/>
                </a:solidFill>
              </a:rPr>
              <a:t>6.2 </a:t>
            </a:r>
            <a:r>
              <a:rPr lang="zh-TW" altLang="en-US" b="1" dirty="0">
                <a:solidFill>
                  <a:srgbClr val="C00000"/>
                </a:solidFill>
              </a:rPr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52007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CFD4-F6CE-6CF0-9306-3572F441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6617B-30FC-8D4E-D188-DC820B8F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前言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6632E4A-7724-7B6A-E108-594307D402A9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7A04BFE5-0B89-DEAA-423E-B362EE3F3494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375FC74F-4BF8-E42A-18BE-FCDF92F639D9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24CE797-6FCA-01DA-DE8C-A5D14AA84748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D34F5FF-23F5-1D07-BE46-EC44B85674E2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DAF26BF5-C07A-17E0-476D-2925A68B7079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C999B325-B927-6FA0-FF93-F1BCF8BDDA70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1E8E7C9-A620-5CFB-9EDD-CA65B3165674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385079-4BAA-F8CD-2E9C-5E0BF2628F9A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DD6DF9D-0366-9FAA-1553-E2F26C456319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16" name="內容版面配置區 8">
            <a:extLst>
              <a:ext uri="{FF2B5EF4-FFF2-40B4-BE49-F238E27FC236}">
                <a16:creationId xmlns:a16="http://schemas.microsoft.com/office/drawing/2014/main" id="{F1608D53-F52A-A07E-EBEA-A9CC8D3E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4408066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>
                <a:highlight>
                  <a:srgbClr val="FFFF00"/>
                </a:highlight>
              </a:rPr>
              <a:t>研究動機：</a:t>
            </a:r>
            <a:endParaRPr lang="en-US" altLang="zh-TW" sz="2000" dirty="0">
              <a:highlight>
                <a:srgbClr val="FFFF00"/>
              </a:highlight>
            </a:endParaRPr>
          </a:p>
          <a:p>
            <a:pPr marL="720000" marR="0" lvl="0" indent="-228600" algn="just" defTabSz="914400" rtl="0" eaLnBrk="1" fontAlgn="auto" latinLnBrk="0" hangingPunct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隨著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LLM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在程式碼生成、工具調用與多步推理能力上的快速進展，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LLM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已從「語言產生器」轉變為具備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協調複雜任務能力的核心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。這使得「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代理型系統 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(Agentic Systems)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」成為可能</a:t>
            </a:r>
            <a:endParaRPr lang="en-US" altLang="zh-TW" sz="18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zh-TW" sz="1800" dirty="0"/>
              <a:t>探討</a:t>
            </a:r>
            <a:r>
              <a:rPr lang="zh-TW" altLang="zh-TW" sz="1800" b="1" dirty="0"/>
              <a:t>代理能否從公開 </a:t>
            </a:r>
            <a:r>
              <a:rPr lang="en-US" altLang="zh-TW" sz="1800" b="1" dirty="0"/>
              <a:t>CVE </a:t>
            </a:r>
            <a:r>
              <a:rPr lang="zh-TW" altLang="zh-TW" sz="1800" b="1" dirty="0"/>
              <a:t>描述自動生成有效的</a:t>
            </a:r>
            <a:r>
              <a:rPr lang="en-US" altLang="zh-TW" sz="1800" b="1" dirty="0"/>
              <a:t> PoC</a:t>
            </a:r>
            <a:r>
              <a:rPr lang="zh-TW" altLang="en-US" sz="1800" b="1" dirty="0"/>
              <a:t> 程式碼</a:t>
            </a:r>
            <a:r>
              <a:rPr lang="zh-TW" altLang="zh-TW" sz="1800" dirty="0"/>
              <a:t>，並分析其可靠性、限制與潛在的雙重用途風險</a:t>
            </a:r>
            <a:r>
              <a:rPr lang="zh-TW" altLang="en-US" sz="1800" dirty="0"/>
              <a:t>，</a:t>
            </a:r>
            <a:r>
              <a:rPr lang="zh-TW" altLang="zh-TW" sz="1800" b="1" dirty="0"/>
              <a:t>以期用於紅隊演練測試</a:t>
            </a:r>
            <a:endParaRPr lang="en-US" altLang="zh-TW" sz="1800" b="1" dirty="0"/>
          </a:p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>
                <a:highlight>
                  <a:srgbClr val="FFFF00"/>
                </a:highlight>
              </a:rPr>
              <a:t>本研究提出的框架：</a:t>
            </a:r>
            <a:endParaRPr lang="en-US" altLang="zh-TW" sz="2000" dirty="0">
              <a:highlight>
                <a:srgbClr val="FFFF00"/>
              </a:highlight>
            </a:endParaRP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b="1" dirty="0"/>
              <a:t>基於 </a:t>
            </a:r>
            <a:r>
              <a:rPr lang="en-US" altLang="zh-TW" sz="1800" b="1" dirty="0"/>
              <a:t>LLM </a:t>
            </a:r>
            <a:r>
              <a:rPr lang="zh-TW" altLang="en-US" sz="1800" b="1" dirty="0"/>
              <a:t>代理，驅動一系列工具以自動化完成多步作業</a:t>
            </a:r>
            <a:endParaRPr lang="en-US" altLang="zh-TW" sz="1800" b="1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zh-TW" altLang="en-US" sz="1800" b="1" dirty="0">
                <a:solidFill>
                  <a:srgbClr val="0070C0"/>
                </a:solidFill>
              </a:rPr>
              <a:t>輸入</a:t>
            </a:r>
            <a:r>
              <a:rPr lang="zh-TW" altLang="en-US" sz="1800" dirty="0"/>
              <a:t>：欲重現的 </a:t>
            </a:r>
            <a:r>
              <a:rPr lang="en-US" altLang="zh-TW" sz="1800" dirty="0"/>
              <a:t>CVE </a:t>
            </a:r>
            <a:r>
              <a:rPr lang="zh-TW" altLang="en-US" sz="1800" dirty="0"/>
              <a:t>編號、精心設計的 </a:t>
            </a:r>
            <a:r>
              <a:rPr lang="en-US" altLang="zh-TW" sz="1800" dirty="0"/>
              <a:t>Prompt (</a:t>
            </a:r>
            <a:r>
              <a:rPr lang="zh-TW" altLang="en-US" sz="1800" dirty="0"/>
              <a:t>提示詞</a:t>
            </a:r>
            <a:r>
              <a:rPr lang="en-US" altLang="zh-TW" sz="1800" dirty="0"/>
              <a:t>)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zh-TW" altLang="en-US" sz="1800" b="1" dirty="0">
                <a:solidFill>
                  <a:srgbClr val="4A8522"/>
                </a:solidFill>
              </a:rPr>
              <a:t>輸出</a:t>
            </a:r>
            <a:r>
              <a:rPr lang="zh-TW" altLang="en-US" sz="1800" dirty="0"/>
              <a:t>：自動生成並驗證新的 </a:t>
            </a:r>
            <a:r>
              <a:rPr lang="en-US" altLang="zh-TW" sz="1800" dirty="0"/>
              <a:t>PoC</a:t>
            </a:r>
            <a:r>
              <a:rPr lang="zh-TW" altLang="en-US" sz="1800" dirty="0"/>
              <a:t> 程式碼</a:t>
            </a:r>
            <a:endParaRPr lang="en-US" altLang="zh-TW" sz="18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※"/>
            </a:pPr>
            <a:r>
              <a:rPr lang="zh-TW" altLang="en-US" sz="1800" dirty="0"/>
              <a:t>輸入完成後，</a:t>
            </a:r>
            <a:r>
              <a:rPr lang="en-US" altLang="zh-TW" sz="1800" dirty="0"/>
              <a:t>AI </a:t>
            </a:r>
            <a:r>
              <a:rPr lang="zh-TW" altLang="en-US" sz="1800" dirty="0"/>
              <a:t>代理將自行於</a:t>
            </a:r>
            <a:r>
              <a:rPr lang="zh-TW" altLang="en-US" sz="1800" dirty="0">
                <a:solidFill>
                  <a:srgbClr val="0070C0"/>
                </a:solidFill>
              </a:rPr>
              <a:t>受控隔離環境</a:t>
            </a:r>
            <a:r>
              <a:rPr lang="zh-TW" altLang="en-US" sz="1800" dirty="0"/>
              <a:t>中，進行</a:t>
            </a:r>
            <a:r>
              <a:rPr lang="zh-TW" altLang="en-US" sz="1800" b="1" dirty="0"/>
              <a:t>檢索並整理漏洞資訊、技術細節</a:t>
            </a:r>
            <a:r>
              <a:rPr lang="zh-TW" altLang="en-US" sz="1800" dirty="0"/>
              <a:t>，</a:t>
            </a:r>
            <a:r>
              <a:rPr lang="zh-TW" altLang="en-US" sz="1800" dirty="0">
                <a:solidFill>
                  <a:srgbClr val="C00000"/>
                </a:solidFill>
              </a:rPr>
              <a:t>整個任務執行過程不依賴既有 </a:t>
            </a:r>
            <a:r>
              <a:rPr lang="en-US" altLang="zh-TW" sz="1800" dirty="0">
                <a:solidFill>
                  <a:srgbClr val="C00000"/>
                </a:solidFill>
              </a:rPr>
              <a:t>PoC (Proof-of-Concept) </a:t>
            </a:r>
            <a:r>
              <a:rPr lang="zh-TW" altLang="en-US" sz="1800" dirty="0">
                <a:solidFill>
                  <a:srgbClr val="C00000"/>
                </a:solidFill>
              </a:rPr>
              <a:t>程式碼</a:t>
            </a:r>
            <a:endParaRPr lang="en-US" altLang="zh-TW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3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FD30-525D-EF83-BFE5-72A9C969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5D286-4909-E693-20CE-ED1F2D35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文獻探討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34047EBA-CDB9-569F-D038-4196CBDD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3449470"/>
          </a:xfr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自動化漏洞利用：</a:t>
            </a:r>
            <a:endParaRPr lang="en-US" altLang="zh-TW" sz="2000" dirty="0"/>
          </a:p>
          <a:p>
            <a:pPr marL="777150" indent="-28575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b="1" dirty="0"/>
              <a:t>AEG (Automated Exploit Generation) </a:t>
            </a:r>
            <a:r>
              <a:rPr lang="zh-TW" altLang="en-US" sz="1800" dirty="0"/>
              <a:t>是資訊安全領域的一個重要研究方向，旨在透過程式分析與自動化工具，自動生成漏洞攻擊</a:t>
            </a:r>
            <a:endParaRPr lang="en-US" altLang="zh-TW" sz="1800" dirty="0"/>
          </a:p>
          <a:p>
            <a:pPr marL="777150" indent="-28575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Avgerinos </a:t>
            </a:r>
            <a:r>
              <a:rPr lang="zh-TW" altLang="en-US" sz="1800" dirty="0"/>
              <a:t>等人提出的研究 </a:t>
            </a:r>
            <a:r>
              <a:rPr lang="en-US" altLang="zh-TW" sz="1800" dirty="0"/>
              <a:t>[1]</a:t>
            </a:r>
            <a:r>
              <a:rPr lang="zh-TW" altLang="en-US" sz="1800" dirty="0"/>
              <a:t>：首次展示能於有原始碼時自動產生針對真實應用的 </a:t>
            </a:r>
            <a:r>
              <a:rPr lang="en-US" altLang="zh-TW" sz="1800" dirty="0"/>
              <a:t>exploit</a:t>
            </a:r>
          </a:p>
          <a:p>
            <a:pPr marL="777150" indent="-28575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Cha </a:t>
            </a:r>
            <a:r>
              <a:rPr lang="zh-TW" altLang="en-US" sz="1800" dirty="0"/>
              <a:t>等人提出的 </a:t>
            </a:r>
            <a:r>
              <a:rPr lang="en-US" altLang="zh-TW" sz="1800" dirty="0"/>
              <a:t>Mayhem</a:t>
            </a:r>
            <a:r>
              <a:rPr lang="zh-TW" altLang="en-US" sz="1800" dirty="0"/>
              <a:t> 系統 </a:t>
            </a:r>
            <a:r>
              <a:rPr lang="en-US" altLang="zh-TW" sz="1800" dirty="0"/>
              <a:t>[2]</a:t>
            </a:r>
            <a:r>
              <a:rPr lang="zh-TW" altLang="en-US" sz="1800" dirty="0"/>
              <a:t>：將 </a:t>
            </a:r>
            <a:r>
              <a:rPr lang="en-US" altLang="zh-TW" sz="1800" dirty="0"/>
              <a:t>AEG </a:t>
            </a:r>
            <a:r>
              <a:rPr lang="zh-TW" altLang="en-US" sz="1800" dirty="0"/>
              <a:t>擴展至二進位程式層級，自動化能力更進一步</a:t>
            </a:r>
            <a:endParaRPr lang="en-US" altLang="zh-TW" sz="1800" dirty="0"/>
          </a:p>
          <a:p>
            <a:pPr marL="777150" indent="-28575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DARPA (Defense Advanced Research Projects Agency) CGC</a:t>
            </a:r>
            <a:r>
              <a:rPr lang="zh-TW" altLang="en-US" sz="1800" dirty="0"/>
              <a:t> </a:t>
            </a:r>
            <a:r>
              <a:rPr lang="en-US" altLang="zh-TW" sz="1800" dirty="0"/>
              <a:t>(Cyber Grand Challenge)</a:t>
            </a:r>
            <a:r>
              <a:rPr lang="zh-TW" altLang="en-US" sz="1800" dirty="0"/>
              <a:t> </a:t>
            </a:r>
            <a:r>
              <a:rPr lang="en-US" altLang="zh-TW" sz="1800" dirty="0"/>
              <a:t>[11,12]</a:t>
            </a:r>
            <a:r>
              <a:rPr lang="zh-TW" altLang="en-US" sz="1800" dirty="0"/>
              <a:t>：展示完整「發現 → 修補 → 利用」自動化循環，代表 </a:t>
            </a:r>
            <a:r>
              <a:rPr lang="en-US" altLang="zh-TW" sz="1800" dirty="0"/>
              <a:t>AEG </a:t>
            </a:r>
            <a:r>
              <a:rPr lang="zh-TW" altLang="en-US" sz="1800" dirty="0"/>
              <a:t>技術的重要里程碑</a:t>
            </a:r>
            <a:endParaRPr lang="en-US" altLang="zh-TW" sz="1800" dirty="0"/>
          </a:p>
          <a:p>
            <a:pPr marL="777150" indent="-28575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>
                <a:highlight>
                  <a:srgbClr val="FFFF00"/>
                </a:highlight>
              </a:rPr>
              <a:t>本研究觀察：</a:t>
            </a:r>
            <a:r>
              <a:rPr lang="en-US" altLang="zh-TW" sz="1800" dirty="0"/>
              <a:t>AEG </a:t>
            </a:r>
            <a:r>
              <a:rPr lang="zh-TW" altLang="en-US" sz="1800" dirty="0"/>
              <a:t>顯示漏洞利用不再完全仰賴人工專業，但現有方法在擴展性與泛化上仍有挑戰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4DD3449-21B3-1EAF-5792-7571E164914C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90202F12-4B4E-7C03-B561-7DB26FD27432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A3283C2D-852A-D9E8-B1DE-4D1C56D8843E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62F8217-A971-BC70-6350-05ABD01AD2A6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A22AB3D-F2B8-2D02-ED22-EDC47E0BA2FF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9A971846-7E48-8A41-A6EE-FFA6BDF5DA37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ACFB1F6D-E60C-8683-9D1A-3433650C53DD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A598B4F-CE91-2ED2-D817-B3DCBAA9467E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5E1B94F-E641-E6A2-0B5D-AD2080EF547C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42F0AD0-810F-2459-33D2-BBE510A73673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5912E6E-89C2-5685-9660-11546D23EE5B}"/>
              </a:ext>
            </a:extLst>
          </p:cNvPr>
          <p:cNvSpPr txBox="1"/>
          <p:nvPr/>
        </p:nvSpPr>
        <p:spPr>
          <a:xfrm>
            <a:off x="1187865" y="4519223"/>
            <a:ext cx="101659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[1] Avgerinos, T., Cha, S. K., Rebert, A., Schwartz, E. J., Woo, M., &amp; Brumley, D. (2014). Automatic exploit generation. Communications of the ACM, 57(2), 74-84.</a:t>
            </a:r>
          </a:p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[2] Cha, S. K., Avgerinos, T., Rebert, A., &amp; Brumley, D. (2012, May). Unleashing mayhem on binary code. In 2012 IEEE Symposium on Security and Privacy (pp. 380-394). IEEE.</a:t>
            </a:r>
          </a:p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[3] Defense Advanced Research Projects Agency (DARPA). (2016, August 4). “Mayhem” declared preliminary winner of historic Cyber Grand Challenge. DARPA.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https://www.darpa.mil/news/2016/mayhem-winner-cyber-grand-challenge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[4] Greenberg, A. (2016, August 5). Hackers don’t have to be human anymore. This bot battle proves it. Wired.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hlinkClick r:id="rId4"/>
              </a:rPr>
              <a:t>https://www.wired.com/2016/08/security-bots-show-hacking-isnt-just-humans/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069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FD30-525D-EF83-BFE5-72A9C969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5D286-4909-E693-20CE-ED1F2D35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文獻探討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34047EBA-CDB9-569F-D038-4196CBDD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3907929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LLM </a:t>
            </a:r>
            <a:r>
              <a:rPr lang="zh-TW" altLang="en-US" sz="2000" dirty="0"/>
              <a:t>在資安研究中的應用：</a:t>
            </a:r>
            <a:endParaRPr lang="en-US" altLang="zh-TW" sz="20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LLM </a:t>
            </a:r>
            <a:r>
              <a:rPr lang="zh-TW" altLang="en-US" sz="1800" dirty="0"/>
              <a:t>在資安領域的發展應用逐漸受到關注，</a:t>
            </a:r>
            <a:r>
              <a:rPr lang="zh-TW" altLang="en-US" sz="1800" b="1" dirty="0"/>
              <a:t>其不僅能輔助程式撰寫與分析漏洞， 還能在受控環境下執行攻擊任務</a:t>
            </a:r>
            <a:endParaRPr lang="en-US" altLang="zh-TW" sz="1800" b="1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Fang </a:t>
            </a:r>
            <a:r>
              <a:rPr lang="zh-TW" altLang="en-US" sz="1800" dirty="0"/>
              <a:t>等人提出的研究 </a:t>
            </a:r>
            <a:r>
              <a:rPr lang="en-US" altLang="zh-TW" sz="1800" dirty="0"/>
              <a:t>[5,6]</a:t>
            </a:r>
            <a:r>
              <a:rPr lang="zh-TW" altLang="en-US" sz="1800" dirty="0"/>
              <a:t>：展示</a:t>
            </a:r>
            <a:r>
              <a:rPr lang="zh-TW" altLang="en-US" sz="1800" b="1" dirty="0"/>
              <a:t>了 </a:t>
            </a:r>
            <a:r>
              <a:rPr lang="en-US" altLang="zh-TW" sz="1800" b="1" dirty="0"/>
              <a:t>LLM </a:t>
            </a:r>
            <a:r>
              <a:rPr lang="zh-TW" altLang="en-US" sz="1800" b="1" dirty="0"/>
              <a:t>代理無需事先了解漏洞即可自動駭入脆弱網站</a:t>
            </a:r>
            <a:r>
              <a:rPr lang="zh-TW" altLang="en-US" sz="1800" dirty="0"/>
              <a:t>；相同研究團隊更進一步展示</a:t>
            </a:r>
            <a:r>
              <a:rPr lang="zh-TW" altLang="en-US" sz="1800" b="1" dirty="0"/>
              <a:t>代理在獲得公開 </a:t>
            </a:r>
            <a:r>
              <a:rPr lang="en-US" altLang="zh-TW" sz="1800" b="1" dirty="0"/>
              <a:t>CVE </a:t>
            </a:r>
            <a:r>
              <a:rPr lang="zh-TW" altLang="en-US" sz="1800" b="1" dirty="0"/>
              <a:t>描述後，能自動產生 </a:t>
            </a:r>
            <a:r>
              <a:rPr lang="en-US" altLang="zh-TW" sz="1800" b="1" dirty="0"/>
              <a:t>one-day </a:t>
            </a:r>
            <a:r>
              <a:rPr lang="zh-TW" altLang="en-US" sz="1800" b="1" dirty="0"/>
              <a:t>漏洞的利用程式</a:t>
            </a:r>
            <a:endParaRPr lang="en-US" altLang="zh-TW" sz="1800" b="1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Deng </a:t>
            </a:r>
            <a:r>
              <a:rPr lang="zh-TW" altLang="en-US" sz="1800" dirty="0"/>
              <a:t>等人提出的 </a:t>
            </a:r>
            <a:r>
              <a:rPr lang="en-US" altLang="zh-TW" sz="1800" dirty="0" err="1"/>
              <a:t>PentestGPT</a:t>
            </a:r>
            <a:r>
              <a:rPr lang="en-US" altLang="zh-TW" sz="1800" dirty="0"/>
              <a:t> [7]</a:t>
            </a:r>
            <a:r>
              <a:rPr lang="zh-TW" altLang="en-US" sz="1800" dirty="0"/>
              <a:t>：評估 </a:t>
            </a:r>
            <a:r>
              <a:rPr lang="en-US" altLang="zh-TW" sz="1800" dirty="0"/>
              <a:t>LLM </a:t>
            </a:r>
            <a:r>
              <a:rPr lang="zh-TW" altLang="en-US" sz="1800" dirty="0"/>
              <a:t>在自動化滲透測試中的潛力，顯示 </a:t>
            </a:r>
            <a:r>
              <a:rPr lang="en-US" altLang="zh-TW" sz="1800" dirty="0"/>
              <a:t>LLM </a:t>
            </a:r>
            <a:r>
              <a:rPr lang="zh-TW" altLang="en-US" sz="1800" dirty="0"/>
              <a:t>能輔助紅隊模擬，但</a:t>
            </a:r>
            <a:r>
              <a:rPr lang="zh-TW" altLang="en-US" sz="1800" b="1" dirty="0"/>
              <a:t>仍受限於記憶、計劃能力與模型幻覺</a:t>
            </a:r>
            <a:endParaRPr lang="en-US" altLang="zh-TW" sz="1800" b="1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SWE-agent </a:t>
            </a:r>
            <a:r>
              <a:rPr lang="zh-TW" altLang="en-US" sz="1800" dirty="0"/>
              <a:t>展示了 </a:t>
            </a:r>
            <a:r>
              <a:rPr lang="en-US" altLang="zh-TW" sz="1800" dirty="0"/>
              <a:t>LLM </a:t>
            </a:r>
            <a:r>
              <a:rPr lang="zh-TW" altLang="en-US" sz="1800" dirty="0"/>
              <a:t>透過 </a:t>
            </a:r>
            <a:r>
              <a:rPr lang="en-US" altLang="zh-TW" sz="1800" dirty="0"/>
              <a:t>Agent-Computer Interface</a:t>
            </a:r>
            <a:r>
              <a:rPr lang="zh-TW" altLang="en-US" sz="1800" dirty="0"/>
              <a:t>，</a:t>
            </a:r>
            <a:r>
              <a:rPr lang="zh-TW" altLang="en-US" sz="1800" b="1" dirty="0"/>
              <a:t>能在完整程式庫中自主進行檔案編輯、測試執行與錯誤修正，完成端到端的維護任務 </a:t>
            </a:r>
            <a:r>
              <a:rPr lang="en-US" altLang="zh-TW" sz="1800" dirty="0"/>
              <a:t>[5,6]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>
                <a:highlight>
                  <a:srgbClr val="FFFF00"/>
                </a:highlight>
              </a:rPr>
              <a:t>本研究觀察： </a:t>
            </a:r>
            <a:r>
              <a:rPr lang="en-US" altLang="zh-TW" sz="1800" dirty="0"/>
              <a:t>LLM </a:t>
            </a:r>
            <a:r>
              <a:rPr lang="zh-TW" altLang="en-US" sz="1800" dirty="0"/>
              <a:t>在攻擊模擬上展現潛力，但同時帶來「雙重用途」風險與倫理挑戰。</a:t>
            </a:r>
            <a:endParaRPr lang="en-US" altLang="zh-TW" sz="1800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48BD35E-070A-9C1D-154B-B4830D9386A9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03D25CED-83D2-DE43-86C5-F02CD24F0918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B2942C2C-DF01-EF8F-2D0A-20B8B83F1DB8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3D8F7C9-C550-9B99-B031-CF9A01A60BFC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FB095F3-2BFE-7672-9728-0266791104BB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7801AA53-39EA-F18C-DA3D-6C4D93FAD487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1600A8B0-E3E2-0D8F-CB35-AD81893E1699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3657252-EA02-EF7D-7AC3-28D2A15B3378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28704CC-BCA0-DE19-95C8-C7E3B392EB19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36BF714-8F75-5259-68A5-9ABE84A93BDB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8C21230-C1BA-7D8E-6082-4F93E53C9A17}"/>
              </a:ext>
            </a:extLst>
          </p:cNvPr>
          <p:cNvSpPr txBox="1"/>
          <p:nvPr/>
        </p:nvSpPr>
        <p:spPr>
          <a:xfrm>
            <a:off x="1187865" y="5130708"/>
            <a:ext cx="101659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[5]	Yang, J., Jimenez, C. E., Wettig, A., 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Lieret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K., Yao, S., Narasimhan, K., &amp; Press, O. (2024). Swe-agent: Agent-computer interfaces enable automated software engineering. Advances in Neural Information Processing Systems, 37, 50528-50652.</a:t>
            </a:r>
          </a:p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[6]	SWE-agent. (2025, May 22). GitHub.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https://github.com/SWE-agent/SWE-agent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88000" indent="-432000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[7] Deng, G., Liu, Y., Mayoral-Vilches, V., Liu, P., Li, Y., Xu, Y., ... &amp; Rass, S. (2024). {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PentestGPT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}: Evaluating and harnessing large language models for automated penetration testing. In 33rd USENIX Security Symposium (USENIX Security 24) (pp. 847-864)</a:t>
            </a:r>
          </a:p>
        </p:txBody>
      </p:sp>
    </p:spTree>
    <p:extLst>
      <p:ext uri="{BB962C8B-B14F-4D97-AF65-F5344CB8AC3E}">
        <p14:creationId xmlns:p14="http://schemas.microsoft.com/office/powerpoint/2010/main" val="3181005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FD30-525D-EF83-BFE5-72A9C969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5D286-4909-E693-20CE-ED1F2D35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文獻探討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34047EBA-CDB9-569F-D038-4196CBDD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1945854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Model Context Protocol</a:t>
            </a:r>
            <a:r>
              <a:rPr lang="zh-TW" altLang="en-US" sz="2000" dirty="0"/>
              <a:t>：</a:t>
            </a:r>
            <a:endParaRPr lang="en-US" altLang="zh-TW" sz="20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MCP </a:t>
            </a:r>
            <a:r>
              <a:rPr lang="zh-TW" altLang="en-US" sz="1800" dirty="0"/>
              <a:t>是由 </a:t>
            </a:r>
            <a:r>
              <a:rPr lang="en-US" altLang="zh-TW" sz="1800" dirty="0"/>
              <a:t>Anthropic </a:t>
            </a:r>
            <a:r>
              <a:rPr lang="zh-TW" altLang="en-US" sz="1800" dirty="0"/>
              <a:t>提出、以開放標準形式規範 </a:t>
            </a:r>
            <a:r>
              <a:rPr lang="en-US" altLang="zh-TW" sz="1800" dirty="0"/>
              <a:t>LLM </a:t>
            </a:r>
            <a:r>
              <a:rPr lang="zh-TW" altLang="en-US" sz="1800" dirty="0"/>
              <a:t>與外部資源 </a:t>
            </a:r>
            <a:r>
              <a:rPr lang="en-US" altLang="zh-TW" sz="1800" dirty="0"/>
              <a:t>(</a:t>
            </a:r>
            <a:r>
              <a:rPr lang="zh-TW" altLang="en-US" sz="1800" dirty="0"/>
              <a:t>檔案、資料庫、工具、服務</a:t>
            </a:r>
            <a:r>
              <a:rPr lang="en-US" altLang="zh-TW" sz="1800" dirty="0"/>
              <a:t>)</a:t>
            </a:r>
            <a:r>
              <a:rPr lang="zh-TW" altLang="en-US" sz="1800" dirty="0"/>
              <a:t> 互動的通訊協定；</a:t>
            </a:r>
            <a:r>
              <a:rPr lang="zh-TW" altLang="en-US" sz="1800" b="1" dirty="0"/>
              <a:t>目的在於提供一個統一、安全且可互操作的介面，讓模型能在受控權限下讀取資料與呼叫工具 </a:t>
            </a:r>
            <a:r>
              <a:rPr lang="en-US" altLang="zh-TW" sz="1800" dirty="0"/>
              <a:t>[8]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dirty="0"/>
              <a:t>MCP </a:t>
            </a:r>
            <a:r>
              <a:rPr lang="zh-TW" altLang="en-US" sz="1800" dirty="0"/>
              <a:t>使 </a:t>
            </a:r>
            <a:r>
              <a:rPr lang="en-US" altLang="zh-TW" sz="1800" dirty="0"/>
              <a:t>LLM </a:t>
            </a:r>
            <a:r>
              <a:rPr lang="zh-TW" altLang="en-US" sz="1800" dirty="0"/>
              <a:t>代理能在高風險場景 </a:t>
            </a:r>
            <a:r>
              <a:rPr lang="en-US" altLang="zh-TW" sz="1800" dirty="0"/>
              <a:t>(</a:t>
            </a:r>
            <a:r>
              <a:rPr lang="zh-TW" altLang="en-US" sz="1800" dirty="0"/>
              <a:t>如資安測試</a:t>
            </a:r>
            <a:r>
              <a:rPr lang="en-US" altLang="zh-TW" sz="1800" dirty="0"/>
              <a:t>) </a:t>
            </a:r>
            <a:r>
              <a:rPr lang="zh-TW" altLang="en-US" sz="1800" dirty="0"/>
              <a:t>中運作時降低誤用與濫用風險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AD592D8-9125-F086-1DC6-DFB02A0D7001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30A6B846-D732-45EF-FD4D-16A698156980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91CB26BB-9296-10BA-B76B-B74B0F3C3BB2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070B753-0886-3C29-0827-C962DBCD1D0D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3446AF0-7BA7-48CA-542E-30E8F290BB34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CA587C30-74B5-51F5-802E-340627C0FD4E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D1995745-91DD-BECB-B56C-1B85E445B5F4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FA64946-A58A-97A7-C767-DBC0104FBC61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403C56D-FD0E-9536-5F1E-DE1B5E6C1FA1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36716EE-37C9-7B61-891F-AACE530AC3AC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13B99B4-A7E8-0A5E-4A61-055D06CD27CB}"/>
              </a:ext>
            </a:extLst>
          </p:cNvPr>
          <p:cNvSpPr txBox="1"/>
          <p:nvPr/>
        </p:nvSpPr>
        <p:spPr>
          <a:xfrm>
            <a:off x="1167680" y="3379617"/>
            <a:ext cx="101861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432000"/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[8]	Anthropic. (2024, November 25). Introducing the Model Context Protocol (MCP). Anthropic.com.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https://www.anthropic.com/news/model-context-protocol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9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4F7CFD-7F2F-EF5C-3260-F51FA2AE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A452B6-D42F-BB0E-B08D-9996E696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6377CE2D-537C-BB13-0664-963925E76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4331122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系統流程：</a:t>
            </a:r>
            <a:endParaRPr lang="en-US" altLang="zh-TW" sz="2000" dirty="0"/>
          </a:p>
          <a:p>
            <a:pPr marL="792000" lvl="1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zh-TW" sz="1800" dirty="0"/>
              <a:t>使用者首先提供</a:t>
            </a:r>
            <a:r>
              <a:rPr lang="zh-TW" altLang="zh-TW" sz="1800" b="1" dirty="0"/>
              <a:t>欲重現 </a:t>
            </a:r>
            <a:r>
              <a:rPr lang="en-US" altLang="zh-TW" sz="1800" b="1" dirty="0"/>
              <a:t>CVE </a:t>
            </a:r>
            <a:r>
              <a:rPr lang="zh-TW" altLang="zh-TW" sz="1800" b="1" dirty="0"/>
              <a:t>的提示詞、客製化的</a:t>
            </a:r>
            <a:r>
              <a:rPr lang="en-US" altLang="zh-TW" sz="1800" b="1" dirty="0"/>
              <a:t> Rules</a:t>
            </a:r>
            <a:r>
              <a:rPr lang="zh-TW" altLang="zh-TW" sz="1800" dirty="0"/>
              <a:t>；其中，</a:t>
            </a:r>
            <a:r>
              <a:rPr lang="en-US" altLang="zh-TW" sz="1800" dirty="0"/>
              <a:t>Rules </a:t>
            </a:r>
            <a:r>
              <a:rPr lang="zh-TW" altLang="zh-TW" sz="1800" dirty="0"/>
              <a:t>用於提供系統層級的行為指引與約束，並會持續輸入至與</a:t>
            </a:r>
            <a:r>
              <a:rPr lang="en-US" altLang="zh-TW" sz="1800" dirty="0"/>
              <a:t> LLM </a:t>
            </a:r>
            <a:r>
              <a:rPr lang="zh-TW" altLang="zh-TW" sz="1800" dirty="0"/>
              <a:t>的每一輪互動中</a:t>
            </a:r>
            <a:endParaRPr lang="en-US" altLang="zh-TW" sz="1800" dirty="0"/>
          </a:p>
          <a:p>
            <a:pPr marL="792000" lvl="1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sz="1800" dirty="0"/>
              <a:t>Cline </a:t>
            </a:r>
            <a:r>
              <a:rPr lang="zh-TW" altLang="zh-TW" sz="1800" dirty="0"/>
              <a:t>將使用者提示詞、客製化的</a:t>
            </a:r>
            <a:r>
              <a:rPr lang="en-US" altLang="zh-TW" sz="1800" dirty="0"/>
              <a:t> Rules</a:t>
            </a:r>
            <a:r>
              <a:rPr lang="zh-TW" altLang="zh-TW" sz="1800" dirty="0"/>
              <a:t>、</a:t>
            </a:r>
            <a:r>
              <a:rPr lang="en-US" altLang="zh-TW" sz="1800" dirty="0"/>
              <a:t>MCP Server </a:t>
            </a:r>
            <a:r>
              <a:rPr lang="zh-TW" altLang="zh-TW" sz="1800" dirty="0"/>
              <a:t>資訊與</a:t>
            </a:r>
            <a:r>
              <a:rPr lang="en-US" altLang="zh-TW" sz="1800" dirty="0"/>
              <a:t> Cline </a:t>
            </a:r>
            <a:r>
              <a:rPr lang="zh-TW" altLang="zh-TW" sz="1800" dirty="0"/>
              <a:t>預設的結構化上下文，</a:t>
            </a:r>
            <a:r>
              <a:rPr lang="zh-TW" altLang="zh-TW" sz="1800" b="1" dirty="0"/>
              <a:t>透過 </a:t>
            </a:r>
            <a:r>
              <a:rPr lang="en-US" altLang="zh-TW" sz="1800" b="1" dirty="0"/>
              <a:t>API </a:t>
            </a:r>
            <a:r>
              <a:rPr lang="zh-TW" altLang="zh-TW" sz="1800" b="1" dirty="0"/>
              <a:t>傳送至 </a:t>
            </a:r>
            <a:r>
              <a:rPr lang="en-US" altLang="zh-TW" sz="1800" b="1" dirty="0"/>
              <a:t>LLM</a:t>
            </a:r>
            <a:r>
              <a:rPr lang="zh-TW" altLang="zh-TW" sz="1800" dirty="0"/>
              <a:t>，整理資訊、規劃任務流程</a:t>
            </a:r>
            <a:endParaRPr lang="en-US" altLang="zh-TW" sz="1800" dirty="0"/>
          </a:p>
          <a:p>
            <a:pPr marL="792000" lvl="1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sz="1800" dirty="0"/>
              <a:t>LLM </a:t>
            </a:r>
            <a:r>
              <a:rPr lang="zh-TW" altLang="en-US" sz="1800" dirty="0"/>
              <a:t>會</a:t>
            </a:r>
            <a:r>
              <a:rPr lang="zh-TW" altLang="zh-TW" sz="1800" dirty="0"/>
              <a:t>回傳所需調用的 </a:t>
            </a:r>
            <a:r>
              <a:rPr lang="en-US" altLang="zh-TW" sz="1800" dirty="0"/>
              <a:t>MCP Server </a:t>
            </a:r>
            <a:r>
              <a:rPr lang="zh-TW" altLang="zh-TW" sz="1800" dirty="0"/>
              <a:t>及其使用方式</a:t>
            </a:r>
            <a:r>
              <a:rPr lang="zh-TW" altLang="en-US" sz="1800" dirty="0"/>
              <a:t>，</a:t>
            </a:r>
            <a:r>
              <a:rPr lang="en-US" altLang="zh-TW" sz="1800" dirty="0"/>
              <a:t>Cline </a:t>
            </a:r>
            <a:r>
              <a:rPr lang="zh-TW" altLang="en-US" sz="1800" dirty="0"/>
              <a:t>會</a:t>
            </a:r>
            <a:r>
              <a:rPr lang="zh-TW" altLang="zh-TW" sz="1800" b="1" dirty="0"/>
              <a:t>依</a:t>
            </a:r>
            <a:r>
              <a:rPr lang="zh-TW" altLang="en-US" sz="1800" b="1" dirty="0"/>
              <a:t>回傳資料</a:t>
            </a:r>
            <a:r>
              <a:rPr lang="zh-TW" altLang="zh-TW" sz="1800" b="1" dirty="0"/>
              <a:t>調用對應 </a:t>
            </a:r>
            <a:r>
              <a:rPr lang="en-US" altLang="zh-TW" sz="1800" b="1" dirty="0"/>
              <a:t>MCP Server</a:t>
            </a:r>
          </a:p>
          <a:p>
            <a:pPr marL="792000" lvl="1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800" dirty="0"/>
              <a:t>被調用的 </a:t>
            </a:r>
            <a:r>
              <a:rPr lang="en-US" altLang="zh-TW" sz="1800" dirty="0"/>
              <a:t>MCP Server </a:t>
            </a:r>
            <a:r>
              <a:rPr lang="zh-TW" altLang="en-US" sz="1800" dirty="0"/>
              <a:t>會實際地在目標主機 </a:t>
            </a:r>
            <a:r>
              <a:rPr lang="en-US" altLang="zh-TW" sz="1800" dirty="0"/>
              <a:t>(VirtualBox)</a:t>
            </a:r>
            <a:r>
              <a:rPr lang="zh-TW" altLang="en-US" sz="1800" dirty="0"/>
              <a:t> 上，執行所呼叫的工具或指令</a:t>
            </a:r>
            <a:endParaRPr lang="en-US" altLang="zh-TW" sz="1800" dirty="0"/>
          </a:p>
          <a:p>
            <a:pPr marL="792000" lvl="1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sz="1800" dirty="0"/>
              <a:t>Cline </a:t>
            </a:r>
            <a:r>
              <a:rPr lang="zh-TW" altLang="en-US" sz="1800" dirty="0"/>
              <a:t>會</a:t>
            </a:r>
            <a:r>
              <a:rPr lang="zh-TW" altLang="zh-TW" sz="1800" dirty="0"/>
              <a:t>監控與回傳執行結果至 </a:t>
            </a:r>
            <a:r>
              <a:rPr lang="en-US" altLang="zh-TW" sz="1800" dirty="0"/>
              <a:t>LLM </a:t>
            </a:r>
            <a:r>
              <a:rPr lang="zh-TW" altLang="zh-TW" sz="1800" dirty="0"/>
              <a:t>進行分析與規劃後續步驟</a:t>
            </a:r>
            <a:r>
              <a:rPr lang="zh-TW" altLang="en-US" sz="1800" dirty="0"/>
              <a:t>，</a:t>
            </a:r>
            <a:r>
              <a:rPr lang="zh-TW" altLang="zh-TW" sz="1800" b="1" dirty="0"/>
              <a:t>若 </a:t>
            </a:r>
            <a:r>
              <a:rPr lang="en-US" altLang="zh-TW" sz="1800" b="1" dirty="0"/>
              <a:t>LLM </a:t>
            </a:r>
            <a:r>
              <a:rPr lang="zh-TW" altLang="zh-TW" sz="1800" b="1" dirty="0"/>
              <a:t>判斷已成功重現，任務即結束；反之則重複上述流程</a:t>
            </a:r>
            <a:endParaRPr lang="en-US" altLang="zh-TW" sz="1800" b="1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※"/>
            </a:pPr>
            <a:r>
              <a:rPr lang="zh-TW" altLang="zh-TW" sz="1800" dirty="0">
                <a:highlight>
                  <a:srgbClr val="FFFF00"/>
                </a:highlight>
              </a:rPr>
              <a:t>使用者在提供提示詞後只需負責監控任務進度，並適時介入提供協助</a:t>
            </a:r>
            <a:endParaRPr lang="en-US" altLang="zh-TW" sz="1800" dirty="0">
              <a:highlight>
                <a:srgbClr val="FFFF00"/>
              </a:highlight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29D3D49-2F33-4523-F959-F7A65E4D5667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336CFB0D-72BC-2B09-7EE8-541BEDFA6C7A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6501B946-6D7C-58A8-A290-65F9C7A5EA16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4B0BF5-287E-6842-07C5-D918EFF2DDCA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D11ED3C-2102-DF5B-7F2E-6DF91C771212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5F59678C-0CF0-06BC-CEE3-5ED224531F47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B25E2E0E-32FE-8E38-28C0-BB617A8CE398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26682F6-7D7E-1B21-86D8-94001A340E64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F697C42-F7DC-9E97-E655-6FECBB22E20B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E4E454C-E335-4B6E-60AC-11C1DA135C80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2486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4CE1-635D-AB3F-895F-AB37A9F4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B1A560-D864-F9E9-6566-CA9F9825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D3EAD1E-0381-976E-BB1F-1607AB5533BD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C4D97F6-8022-9B17-DE08-8B87FB5C3A4A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8C38681F-E8FD-01FA-41AE-AAAD9D7AA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7D4667B8-91E7-B97E-F02B-A3ED03A13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ABC861-EB6F-331D-0863-174B73C337A6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518ED7C2-9118-EB6F-D31E-96D58DE19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36C2D773-0CB0-9ECE-10C2-517BFB4F8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97B8DBF1-A262-F5B0-1DF6-298EAE7A3226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0" name="Picture 12" descr="Right arrow ">
            <a:extLst>
              <a:ext uri="{FF2B5EF4-FFF2-40B4-BE49-F238E27FC236}">
                <a16:creationId xmlns:a16="http://schemas.microsoft.com/office/drawing/2014/main" id="{E6336698-CA29-9F18-09E6-98C7AAD4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7B2BE04B-01E8-B047-7787-3EF15C241E8C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D85B55-CFD2-085D-78AD-FFE974FF8EF4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C1B9728-76F8-26EA-2756-57109D351F11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BADCCA5-67EF-A0BD-2CBA-EDF7E6A7AC5A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C137FD3-282A-1866-B89D-EBABF007F903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044CC33-E003-2A31-BB42-713C289549C9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B04560A4-B161-B412-14E5-67E845DA8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23BD383A-4915-871B-43CA-9DDD8B9ED009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5C3BAD9-AA59-7E08-6364-7E8BC3FE4068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B34AF3F9-6899-EF48-AB64-A040C561955D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C6A94B48-8A6E-671D-CD20-B1BFAFCF93F3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FC4AA78-98BB-47B2-74FC-4A1D7ECCF355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DC911421-ED7B-A1CF-DCD7-23CCB5E254A2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E14026B2-9C8A-D4AB-8189-85D5CEA2F92C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FB43AA3C-5530-6684-6CF4-A42DDBE01E38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8A1D2D1E-F7EC-0E1D-E1E8-51B4E8382A14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FDC0A8CB-325C-F7A3-38C2-65D118629082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A096E0BB-DB34-4B4C-1B0F-1213CA102428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F11836-EC01-5737-CA06-73174B0809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FADAB8-65BE-87AD-F575-BBE9BF9C41EC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DA0F6EA7-C443-B70E-41C2-3D5C1DCA4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194F4E29-B3E0-DF2C-A906-D48786A26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249954E9-6D00-2292-8BB5-91390CE1D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97ABD6E4-FF43-9098-AF09-E4E6C7810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AF6E682-8BEF-AB7D-AD59-CC8C505B85DD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E41334-5CAB-6820-F4CB-006097C42AED}"/>
              </a:ext>
            </a:extLst>
          </p:cNvPr>
          <p:cNvSpPr/>
          <p:nvPr/>
        </p:nvSpPr>
        <p:spPr>
          <a:xfrm>
            <a:off x="2923360" y="3375102"/>
            <a:ext cx="1521296" cy="89979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4D0CC4-068B-F979-5ACF-E11CDD1B8388}"/>
              </a:ext>
            </a:extLst>
          </p:cNvPr>
          <p:cNvSpPr/>
          <p:nvPr/>
        </p:nvSpPr>
        <p:spPr>
          <a:xfrm>
            <a:off x="8278877" y="3375102"/>
            <a:ext cx="1521296" cy="899796"/>
          </a:xfrm>
          <a:prstGeom prst="rect">
            <a:avLst/>
          </a:prstGeom>
          <a:noFill/>
          <a:ln w="19050">
            <a:solidFill>
              <a:srgbClr val="4A85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ED528B6-CE04-C5B5-5DE0-2668B3A1A359}"/>
              </a:ext>
            </a:extLst>
          </p:cNvPr>
          <p:cNvSpPr txBox="1"/>
          <p:nvPr/>
        </p:nvSpPr>
        <p:spPr>
          <a:xfrm>
            <a:off x="2886390" y="2974992"/>
            <a:ext cx="79200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Input</a:t>
            </a:r>
            <a:endParaRPr lang="zh-TW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5E336A9-89EE-9BB0-BFB7-C0B02F977DFD}"/>
              </a:ext>
            </a:extLst>
          </p:cNvPr>
          <p:cNvSpPr txBox="1"/>
          <p:nvPr/>
        </p:nvSpPr>
        <p:spPr>
          <a:xfrm>
            <a:off x="8278112" y="2974992"/>
            <a:ext cx="99052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4A8522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Output</a:t>
            </a:r>
            <a:endParaRPr lang="zh-TW" altLang="en-US" sz="2000" b="1" dirty="0">
              <a:solidFill>
                <a:srgbClr val="4A8522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422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94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82900-1F2F-4BAA-3193-FFCACD9B7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F4F90-0F3D-FEC1-BD89-FA6785F7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2998FE-33CD-8A0D-6DC8-E7E241A6C694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622929-43B4-9E09-A78A-0CAF2EF337BE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3FACCD65-C8C4-2590-4721-D613786D5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33CA21D1-F792-EB7E-F287-3B83E0144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BF78B8E-2B84-725D-57E8-E600E3E9F797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3CDAA46D-2515-FE8F-1EB5-4C6F91F96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41E8D19C-07DC-F7B9-C868-142F11D5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0681EF43-D6CE-9F2B-AA46-A568AAA6D486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0" name="Picture 12" descr="Right arrow ">
            <a:extLst>
              <a:ext uri="{FF2B5EF4-FFF2-40B4-BE49-F238E27FC236}">
                <a16:creationId xmlns:a16="http://schemas.microsoft.com/office/drawing/2014/main" id="{6E64B391-0053-2AD5-AC93-9F31AC5BD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E5A9D84-7A1C-7291-9E40-E6A36F083671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3407A5-5D5F-8504-C8AC-1E15B53B9CD4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0B4E1AE-36D1-5A8B-A7C3-0EFA13FB60D0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CBDD97F-D575-6ABE-D9D6-39107CA87206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017E104-FF76-6065-B5C2-9EC94B690762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6A0BB0D-59F1-125D-3154-19C43E7C1199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B96DD62B-D536-2B92-8B87-4758EF45A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8FDDA8F5-02C1-30A1-BC3F-785E75E4EFCB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6423529-602A-5464-40F6-529E26476F13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9D52C963-0562-6E32-BD23-834B90EE0A6B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5F54869F-FBEB-A05D-B613-1D50849D2958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92EBE90-3AF3-B83B-605D-A5E813BC11C8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BD0CE4E-68E9-9F3A-C144-0E4C142E3545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CCFE0474-301A-600C-7F93-D85E6C8E1390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D97B4DB6-4770-2551-442C-16B755D62992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B4F081EB-39B6-412D-F3DE-8BFB3982C18F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EE530B1E-7E62-D313-C92D-7469D2CDB46C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A1D27734-A037-B475-2F46-C360489968E6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63CFE1-3F5C-C56B-67A1-1F6A70EC2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CEAB389-7D85-472C-4143-C84B0CFE9D2D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CC1C6C2E-CFBB-8486-B51F-B8142D59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37FF1275-6851-BF82-2C5B-FD6F35CCD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8FA1D8E0-1C11-058C-88F1-AAED5D467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0B08DD9C-1E1B-9454-3EEB-8CD3A76D3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B275316-0DB5-06AD-2531-1F97DCA0AA48}"/>
              </a:ext>
            </a:extLst>
          </p:cNvPr>
          <p:cNvSpPr txBox="1"/>
          <p:nvPr/>
        </p:nvSpPr>
        <p:spPr>
          <a:xfrm>
            <a:off x="6096000" y="1070356"/>
            <a:ext cx="3746799" cy="7083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500"/>
              </a:lnSpc>
              <a:buClr>
                <a:srgbClr val="303030"/>
              </a:buClr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付費購買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OpenAI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額度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使用雲端推理模型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GPT-4.1 mini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2ACABEA8-1F06-6F3B-0AE8-CF8446EB57B1}"/>
              </a:ext>
            </a:extLst>
          </p:cNvPr>
          <p:cNvSpPr/>
          <p:nvPr/>
        </p:nvSpPr>
        <p:spPr>
          <a:xfrm>
            <a:off x="4544167" y="1487118"/>
            <a:ext cx="951894" cy="951894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4E0E971-1B11-58A6-BF52-1A0032E49587}"/>
              </a:ext>
            </a:extLst>
          </p:cNvPr>
          <p:cNvCxnSpPr>
            <a:stCxn id="29" idx="6"/>
            <a:endCxn id="3" idx="1"/>
          </p:cNvCxnSpPr>
          <p:nvPr/>
        </p:nvCxnSpPr>
        <p:spPr>
          <a:xfrm flipV="1">
            <a:off x="5496061" y="1424524"/>
            <a:ext cx="599939" cy="538541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C77E844-9D12-3B02-C1F9-DE28373848A6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6323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7B52-010A-0494-B954-C713C19D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0F8116-E936-A9D8-E2B6-37B12EF9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CEA593-0155-2EA9-989A-8AEDBBD02BDD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4AF5348-7A6C-5214-DA74-97C8E22E7667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C86F29C7-93CB-02CC-5B16-C3FDCFE5F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6375153C-01EF-DFB6-1856-BBC4040B9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267C70E-BB57-6E51-4B8F-8BA4C5BB330B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70A4FA62-DE59-2AF8-0031-66630FD1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810842E0-7889-35D9-D720-98627CD0E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1D43ACF5-1754-819C-AACC-2105BE849FEC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0" name="Picture 12" descr="Right arrow ">
            <a:extLst>
              <a:ext uri="{FF2B5EF4-FFF2-40B4-BE49-F238E27FC236}">
                <a16:creationId xmlns:a16="http://schemas.microsoft.com/office/drawing/2014/main" id="{3A734182-A5BD-27EC-6B03-A62416AEE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C9AEFD4F-3E7D-2E2B-0CEF-8CF9542A6E3F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B9EDC2-67BB-9B1C-69FE-3783E22C91DE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5DEFAD7-065E-0E7C-AD29-983B4308585A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291EBD7-B7E7-89A1-2617-AFDD026D8277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C50B2EA-047E-DD81-A409-0C71D8CCF414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C3E2650-6560-E0DA-9F90-B77513673535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1CE1505E-C4C5-EDD3-9BA8-8B10FA4D9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73B2E5FB-48B0-3331-9DDE-7620B084642B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B67C09A-FC12-4D74-6E08-663F77CC6DA4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91DEE01F-FF95-CFFD-3764-E5E6ED3D1F0A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C549E792-8FB3-D8DB-EBE9-84469BA4DE25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185458E-4E09-2D90-F295-C2EA23F16633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2514A5E-B85D-8743-06F3-0918BF72A194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76FE27E5-E73E-0AD4-4E5D-FF53AAE3F679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989AFC0D-C1E6-E4E6-339B-2BC9C5DD9590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2C351A23-542D-9ED1-9B2A-F646D3AE1886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427475E-C84A-9C40-4C62-E568FC985E00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6E46AD4A-1B93-139A-BA7F-437E69196B88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B62AF4-7C0E-D012-F159-53060E8844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8B42F2-E885-3F44-AC7B-B81F6ED8E5BC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284029B3-A485-842A-7A28-CCB278B28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D05755A1-0F7D-4E3B-9E67-8CC7C42EF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E658710C-D392-B89A-EFC5-D42BD4272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7AB97B9B-E3B7-9DB7-AC41-7E063B727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09A1C9B-5368-762F-C0DD-2C90213BFD17}"/>
              </a:ext>
            </a:extLst>
          </p:cNvPr>
          <p:cNvSpPr txBox="1"/>
          <p:nvPr/>
        </p:nvSpPr>
        <p:spPr>
          <a:xfrm>
            <a:off x="6096000" y="1070356"/>
            <a:ext cx="4817165" cy="7083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設定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連結至 </a:t>
            </a:r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GPT-4.1 mini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新增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Rules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讓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更擅長處理下達的任務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CCA59A25-28C5-4521-D4E4-1CD18B924931}"/>
              </a:ext>
            </a:extLst>
          </p:cNvPr>
          <p:cNvSpPr/>
          <p:nvPr/>
        </p:nvSpPr>
        <p:spPr>
          <a:xfrm>
            <a:off x="4567804" y="3174522"/>
            <a:ext cx="962116" cy="962116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752342E-1B8E-4E7A-A3AF-AE427E2C0DF0}"/>
              </a:ext>
            </a:extLst>
          </p:cNvPr>
          <p:cNvCxnSpPr>
            <a:cxnSpLocks/>
            <a:stCxn id="29" idx="6"/>
            <a:endCxn id="3" idx="2"/>
          </p:cNvCxnSpPr>
          <p:nvPr/>
        </p:nvCxnSpPr>
        <p:spPr>
          <a:xfrm flipV="1">
            <a:off x="5529920" y="1778691"/>
            <a:ext cx="2974663" cy="1876889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BC6BFD6-DC42-C9A8-2E82-B01A5A051A83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553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07C9-8F0A-780B-B28B-9BE1D8A7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9FF9A-ED6D-6E5C-B54A-4380B77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17C3C33-DAF6-9EB1-3444-6BAD163BFF04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9288B6-C499-5C04-F373-03492B6E5A4A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51DCEDBF-6D1F-9058-DD5B-BF1B88050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441A4C9F-98A8-A5C8-4D30-C6F1DB7AE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6F8E15CB-CDAB-0610-92A4-3A3B059778C8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54063077-B59E-1D7F-97B3-F14410CBE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D8710C90-4D22-CD47-8FBC-4B69A76CB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A8C2DAD3-731F-62A0-1D7E-8BEA555C3252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0" name="Picture 12" descr="Right arrow ">
            <a:extLst>
              <a:ext uri="{FF2B5EF4-FFF2-40B4-BE49-F238E27FC236}">
                <a16:creationId xmlns:a16="http://schemas.microsoft.com/office/drawing/2014/main" id="{D129EE36-377A-E6F2-F61C-C78FE77DE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7E19511-E97E-C957-0522-2B41667D02C8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6E5863-3F29-8EB2-DAD2-EA95FAF44D8D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7AF1D47-878F-7EA2-33DB-84641C5A44E0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E9FA18-9FB1-51F3-6D77-2E5C849B36C5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57AE968-C6F3-034A-8002-8DD4922A2142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50F42BE-2417-B77D-C9FD-0C5BBAAFC340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5D96A8C8-4B2B-D5A2-81DD-1D9E8473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B4B6E20A-0023-9D09-7BCB-770A15A0F7B4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17C37D5-1D7A-3819-9634-22014AD6E04E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217AEC9D-8238-E995-691A-F0F60B856207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D15FFB28-9114-7FE0-EB82-092F6AB9EBB7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C337779-ABDE-F9E0-50FB-9FBCBA1E124A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D1F78AD-40F1-DD21-8503-1A3A1F20AD15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2C057C70-9387-69D6-993E-C69A7CB9C977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E5542E3B-3FD5-AE39-3575-FAE4E7CECC5A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AFA3DD68-5046-6C64-20C8-D1948A2DE7C4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B31CB7F-8194-D882-54DE-7232B3835D27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9CB00E50-8C78-8E63-746E-B2E20A62949F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FC72040-E4D6-1E88-7B0D-19AFD3CCFB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  <a:ln>
            <a:noFill/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B0855D-1023-0ED8-08CD-1ABEF0475D18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1BA294C0-ECA0-F878-B27E-228F45DF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1BF84244-385C-CAE3-13F7-D5FD98DC0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BD4A47F7-4FF3-2F59-D5C9-EC14FD748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F3EDE15C-36E3-801C-CE12-4B58339B8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E27FC5C3-4960-1258-D8AD-7DEFDD47C579}"/>
              </a:ext>
            </a:extLst>
          </p:cNvPr>
          <p:cNvSpPr txBox="1"/>
          <p:nvPr/>
        </p:nvSpPr>
        <p:spPr>
          <a:xfrm>
            <a:off x="6481028" y="866990"/>
            <a:ext cx="5339912" cy="16701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Smithery.ai (MCP server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整合網站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)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en-US" altLang="zh-TW" b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mcpmarket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上尋找合適的功能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將現存合適的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連接至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虛擬機內的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作為工具庫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額外製作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  server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給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F5D73371-0B25-270F-A612-1490DFA922B3}"/>
              </a:ext>
            </a:extLst>
          </p:cNvPr>
          <p:cNvSpPr/>
          <p:nvPr/>
        </p:nvSpPr>
        <p:spPr>
          <a:xfrm>
            <a:off x="7220143" y="3173257"/>
            <a:ext cx="962116" cy="962116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81E8D23-5F42-AD9B-1A1E-01941D16AF39}"/>
              </a:ext>
            </a:extLst>
          </p:cNvPr>
          <p:cNvCxnSpPr>
            <a:cxnSpLocks/>
            <a:stCxn id="29" idx="6"/>
            <a:endCxn id="3" idx="2"/>
          </p:cNvCxnSpPr>
          <p:nvPr/>
        </p:nvCxnSpPr>
        <p:spPr>
          <a:xfrm flipV="1">
            <a:off x="8182259" y="2537127"/>
            <a:ext cx="968725" cy="111718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A470ADF-89AF-E75D-F2B4-FD3354307C18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885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3B22-5FAE-48BB-4A57-2D5AF232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E05AE-978A-B4F0-BC90-3D89FFEF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DEA64D-4CB6-21B5-A3ED-7734B377FD89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726159-584C-0EAB-4C9C-4533A13FD9B9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233AFE91-82C6-A539-C7D2-E1535380C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DF1E0D45-BF0B-66DD-E71C-3B08CBD22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EFD9444-0C83-EB01-4F82-F68F43C20973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8883AFD2-7966-2CB8-5A2F-992803610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B782026D-E359-D9F9-17E8-C714AA2B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5E525418-96AA-00C1-4CCF-CADE7F9AC09D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0" name="Picture 12" descr="Right arrow ">
            <a:extLst>
              <a:ext uri="{FF2B5EF4-FFF2-40B4-BE49-F238E27FC236}">
                <a16:creationId xmlns:a16="http://schemas.microsoft.com/office/drawing/2014/main" id="{F3F30C84-87BC-E13C-F03A-5045FF9C6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237BBC4-0BDF-DCA9-FFE1-B39810BE3CDB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AF856B-3913-BA4E-19B2-D9531D35A38A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D029CE6-AD21-7CBD-9846-7C41A7B6342B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AC084B1-01E8-7F07-16BC-9CD153F542FF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B992B42-D267-5F1E-6CA4-B4DD13B48CC9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E0F5C95-BE35-3065-C48B-3E2838F8A616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EF7B2145-520D-321B-5124-F68854AFE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4DD528DC-ACE8-179E-4AB7-DB18EE4E3E08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1743D41-B5F3-A924-D024-E9BCBC0534CC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D541DB62-9274-3BFB-6DF2-EA1F176EF725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5D4C876A-4AF8-9CC8-D666-4C87DE2195FC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FAB6A00-90FF-F902-829A-4101E4EEA3AE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527EDE6-9D2A-CE83-22A8-20094A3098A1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A5C35B34-8B0C-80D1-B3FD-B9AF0A8D3834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8DA34189-7624-C970-3717-30B11D0DD073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C0834400-39FF-0750-BDEB-D20EBB917057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ABF96766-A416-6CE3-C577-9CDE8DA69103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34283C3D-EA57-B5D1-D3A9-F5038773D031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300571-7F08-C5DF-1AB7-63F6F43294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32BE94E-5599-0264-644F-A7FA1098861B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8AA69AE4-0D41-C848-6AC4-095A6EE40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4ACD91F3-5793-84D6-03A1-B2836C97D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2870DD61-AB73-F9DF-6C95-6959AEA2E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ED6DC79D-97C4-F747-7085-8B57848F9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7E4E47F-3B9E-A879-71B3-F603B411C255}"/>
              </a:ext>
            </a:extLst>
          </p:cNvPr>
          <p:cNvSpPr txBox="1"/>
          <p:nvPr/>
        </p:nvSpPr>
        <p:spPr>
          <a:xfrm>
            <a:off x="598650" y="4717649"/>
            <a:ext cx="4214905" cy="13495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使用者首先提供欲重現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CVE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的提示詞、客製化的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Rules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；其中，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Rules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用於提供系統層級的行為指引與約束，並會持續輸入至與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的每一輪互動中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C7B9745-1853-9026-029D-5488D71675C9}"/>
              </a:ext>
            </a:extLst>
          </p:cNvPr>
          <p:cNvCxnSpPr>
            <a:cxnSpLocks/>
            <a:stCxn id="11" idx="2"/>
            <a:endCxn id="3" idx="0"/>
          </p:cNvCxnSpPr>
          <p:nvPr/>
        </p:nvCxnSpPr>
        <p:spPr>
          <a:xfrm flipH="1">
            <a:off x="2706103" y="4242602"/>
            <a:ext cx="1007904" cy="475047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24718116-F3A5-8BF8-1962-383F4CCAEB12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A821B6-3774-4BDB-7281-969B2E01C8A6}"/>
              </a:ext>
            </a:extLst>
          </p:cNvPr>
          <p:cNvSpPr txBox="1"/>
          <p:nvPr/>
        </p:nvSpPr>
        <p:spPr>
          <a:xfrm>
            <a:off x="4835630" y="5759348"/>
            <a:ext cx="4316753" cy="708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 lvl="1" indent="-2880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Times New Roman" panose="02020603050405020304" pitchFamily="18" charset="0"/>
              <a:buChar char="※"/>
            </a:pPr>
            <a:r>
              <a:rPr lang="zh-TW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使用者在提供提示詞後只需</a:t>
            </a:r>
            <a:r>
              <a:rPr lang="zh-TW" altLang="zh-TW" b="1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rPr>
              <a:t>負責監控任務進度，並適時介入提供協助</a:t>
            </a:r>
            <a:endParaRPr lang="en-US" altLang="zh-TW" b="1" dirty="0"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881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54DD-3927-5BF3-E6AB-3CC8A4F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30A126-4672-67D7-9E33-92502C05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64B22C-1C56-B87A-425C-B4C916C98F3A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459E6246-3ACD-71FD-8F2D-AA4607350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D04918A6-0BAC-98FA-FE02-8E7352BC9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A6CE58-EDE3-27EA-451E-0857CA3917CD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5ACE671A-FDD5-C420-28B2-6F45ABD42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84E28304-8270-1933-EF5C-848F2FAB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B147EE3E-FE87-01FD-DD61-221C64F559DE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9697E4B-783B-62AF-60BA-C35C1D33ED21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D95074C-45C0-DD43-D8F0-5A38F61D6B3A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4320E84-AE83-2E98-1025-A07EB20A1D9B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8451EF13-A4FA-8EB1-986B-E954F60F6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227B9C0C-ECF8-27D9-584D-6A7D932B88F2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BEA3D181-4D94-708E-097B-792F75BCC8CD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F20F8F5F-0CF7-B520-387A-F6AF0BD9D490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570BC90A-4A84-FB49-B3C4-5C7ACC512C72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39F3E45-3384-3DF0-E0E0-CE4401ABFE78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F6B15FA5-8509-2A0B-1616-F0E800D44224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DAE174F9-D877-E31C-1714-21DA438128C8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80DB4B01-ABE7-A227-E5D3-F8D6D11F1A94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D9B35E40-205D-7809-1E04-0EBC459C11CB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E917CC7-F6E5-A9D6-0D81-4497145F65A0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5898E3FC-ABC3-3659-2AAB-A81FD7D4C3C5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06C1ED-32C3-3D0C-2BD3-33CD283637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F91643-1551-03ED-4F52-F656EA9F824E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8688BDC3-71E2-F004-8B9D-07D32E092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AE61A62D-8D18-5853-9D2A-742D6D6D8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AE729398-E6EF-4F6C-E700-20FF74666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EDFA8653-E22D-AC21-3A52-35DBD16B6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2E42D48-DFE0-AFF0-6561-2930C1693DFA}"/>
              </a:ext>
            </a:extLst>
          </p:cNvPr>
          <p:cNvSpPr txBox="1"/>
          <p:nvPr/>
        </p:nvSpPr>
        <p:spPr>
          <a:xfrm>
            <a:off x="6553110" y="990034"/>
            <a:ext cx="4518196" cy="13495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將使用者提示詞、客製化的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Rules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資訊與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預設的結構化上下文，透過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傳送至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，整理資訊、規劃任務流程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49B57B-08B2-8E55-6D25-01B0453F3033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ADFB25E7-F5E6-CC87-E108-0310E6004F5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 flipV="1">
            <a:off x="5703099" y="1664803"/>
            <a:ext cx="850011" cy="12499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12" descr="Right arrow ">
            <a:extLst>
              <a:ext uri="{FF2B5EF4-FFF2-40B4-BE49-F238E27FC236}">
                <a16:creationId xmlns:a16="http://schemas.microsoft.com/office/drawing/2014/main" id="{C9069877-3B5C-E3C7-D952-343CAC957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矩形 58">
            <a:extLst>
              <a:ext uri="{FF2B5EF4-FFF2-40B4-BE49-F238E27FC236}">
                <a16:creationId xmlns:a16="http://schemas.microsoft.com/office/drawing/2014/main" id="{147704C4-EA5B-E9F3-E5F2-8590B0611E43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C87838A-7DBC-1690-E217-D74DEF03AA61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031E676-90ED-6475-F0A1-6A783362173E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81753B5-0C15-0C43-EA48-88A9FB043582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1238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3735-2BF8-2B0D-73DA-246E26C4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28BF14-CBF7-A01F-A8C6-FA35C195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CA6E460-8758-5925-B666-7370A18E0993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CA6026AA-65D0-9515-512F-9931E5646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42CA1872-C720-28D7-13A4-491341884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C1D8BB21-2383-F3EF-AE2E-9BCEF95D1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06B45CF1-199A-278F-72DE-CFE9345FD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9244BE58-2BD7-F0DD-6F37-593F75C12F11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69443CD-5F23-2702-3275-1C91BB333478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551F797-CA1F-06ED-0A3C-8B9D31ECAB11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C244CC0F-2153-5843-F30E-5F83A1789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C8F5E0F5-65EB-763A-FC08-26BE245C63B2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043D31E-2A3E-495E-25BC-E57B7FAB5F36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A6B60D5B-9CC5-64F2-AF36-803F01282028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886C421E-406A-E361-4E2C-A9E4F9CC6643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F61F897-A9E9-C9E7-6C4E-C4FB50CE0798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C7488E4-0A41-EF8E-D05D-578F98070C9F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48FAE67B-15B2-7B0E-2972-49D8E83DF340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700E884B-6F52-142B-40E4-1007B8BFEC77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46E6E14F-A123-6132-F4AE-5907A4427EDB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5B98375-9321-3A0F-AB48-D8666E851B0F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E5642F13-92C7-2275-5105-6C7E5BFBA0A1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94002C-8891-5960-DCB2-2BD330C351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A49030B-26C4-AEF5-7E61-ECC604022336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BBFE706F-31A2-4AFB-FFF4-8A8C3C7D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8EF26BB1-CDCF-5F72-5924-C486D7CCC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3A7F379D-11B9-8EFB-0970-253A3D625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27076DED-0321-E58A-945C-179C3BF7C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445DE69-9CE9-1594-6AC1-1523D03D6952}"/>
              </a:ext>
            </a:extLst>
          </p:cNvPr>
          <p:cNvSpPr txBox="1"/>
          <p:nvPr/>
        </p:nvSpPr>
        <p:spPr>
          <a:xfrm>
            <a:off x="6305882" y="1200300"/>
            <a:ext cx="4415471" cy="10281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會回傳所需調用的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及其使用方式，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會依回傳資料調用對應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42C916-ADBA-14B7-3B41-0A9467F4065A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2049D16-5256-8CF4-29E6-59C2053BB61C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ECCD63A-8BAD-8F81-4EB8-D0DA24958A56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45ADE38-76DE-AD19-F152-5F210762A8DB}"/>
              </a:ext>
            </a:extLst>
          </p:cNvPr>
          <p:cNvCxnSpPr>
            <a:stCxn id="3" idx="2"/>
            <a:endCxn id="14" idx="0"/>
          </p:cNvCxnSpPr>
          <p:nvPr/>
        </p:nvCxnSpPr>
        <p:spPr>
          <a:xfrm flipH="1">
            <a:off x="6418759" y="2228402"/>
            <a:ext cx="2094859" cy="16700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12" descr="Right arrow ">
            <a:extLst>
              <a:ext uri="{FF2B5EF4-FFF2-40B4-BE49-F238E27FC236}">
                <a16:creationId xmlns:a16="http://schemas.microsoft.com/office/drawing/2014/main" id="{CD803C02-F2F2-FA70-FC4B-6327A9C97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A333F9B8-AEE4-0919-948C-3303C78C6F06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BE241B4-3F76-BBDD-16CE-2C32F57F0478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5E61F22C-3B3E-F245-216E-FBB655CB9C15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B5F9257-6F47-F303-CF3D-B446A5979C23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0783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6FFD-A1B7-BF0C-61FE-34E64936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A7FCC8-18A2-0B86-2CB3-6378C3A8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59B16B3-2B93-81A1-B8C6-B87D16FEBA51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FDB8183B-7FE2-541E-78DB-3A153A657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9AA18539-B0B7-0C73-CBD1-ABA4DA843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098F9EE3-DCCC-5DD7-BD93-CEA8498D9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76B2E556-A1B6-1446-5BB2-6D777D5E3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D59986C9-BDF7-BBC5-E326-7E7B19BCBA9F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5780E11-5D40-01DD-DDD9-67FACFF74EF8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2FE67F1-D8AC-773A-5657-19D68E882D77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738F7C39-1963-14BF-9608-BD268F27A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5DAD53B9-750C-1205-BD6A-E14545D6079F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218224FF-9FC0-70F4-902D-0BD750C118AB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8A569AFF-7376-58AF-8CA2-7AC8215B3E59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6DA39F87-EF7D-FF76-7D0A-9C49EACC1392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922E74D-6F05-74A9-7707-4683A90900F1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FDBD4C4-E651-D829-1A43-B15104AFCBF1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BF9D2934-E4C6-8C78-1F5A-F6F32416BAF7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86ADFB8F-68BD-BCB9-291F-E0D44984844E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2B405D8E-4528-8B8F-0048-151B7D731053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E559C41B-EA93-A919-C8FE-961407701E97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A9225A21-64B3-3C8C-B9E5-B180068F2DE4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C947205-BD0C-C2D9-1AC4-85F684412E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30C20DB-B48D-7F6F-F662-F521D46B40D4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F3AADB65-AA2D-A0F8-0038-F56237AF2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8E236D44-9648-3F31-70E3-52E519424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BA2F0608-620C-9A20-A3FD-1AFDFC04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4CD2B868-D8AC-C861-2094-CBD81D61F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77D84D7-8C12-C3CF-72A1-A3872785E9BC}"/>
              </a:ext>
            </a:extLst>
          </p:cNvPr>
          <p:cNvSpPr txBox="1"/>
          <p:nvPr/>
        </p:nvSpPr>
        <p:spPr>
          <a:xfrm>
            <a:off x="6305882" y="1200300"/>
            <a:ext cx="4415471" cy="102893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被調用的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會實際地在目標主機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(Virtual Machine)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上，執行所呼叫的工具或指令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5700C6F-878B-613E-C3D4-058E9E9CC864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8B0F067-36EA-1949-F0A7-8360FCA01440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4876108-5E24-F3CB-ABAF-C11AD4F22EC0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F7938BB-5DA6-AC41-D434-1632EE3C96D1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>
            <a:off x="8513618" y="2229236"/>
            <a:ext cx="525908" cy="16542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2" descr="Right arrow ">
            <a:extLst>
              <a:ext uri="{FF2B5EF4-FFF2-40B4-BE49-F238E27FC236}">
                <a16:creationId xmlns:a16="http://schemas.microsoft.com/office/drawing/2014/main" id="{14439F88-5792-2EB1-2516-50B054735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0190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5101F044-1F05-21F0-5A62-8B214C6C69CA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0354220-2264-59B0-FF65-FAF2F7991AC4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F05B00F-EF4D-346C-23B6-D021794F8052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704DAE8-1BC4-2D31-A429-96F1C3FFAFA0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214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0A40-44B3-F741-DE2A-DC3972FA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375BE-3184-3D7A-65FC-C163FC18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F0AB87A-19D7-7CCA-7707-47F26A95B428}"/>
              </a:ext>
            </a:extLst>
          </p:cNvPr>
          <p:cNvSpPr txBox="1"/>
          <p:nvPr/>
        </p:nvSpPr>
        <p:spPr>
          <a:xfrm>
            <a:off x="4599376" y="4067768"/>
            <a:ext cx="89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Picture 10" descr="Arrow ">
            <a:extLst>
              <a:ext uri="{FF2B5EF4-FFF2-40B4-BE49-F238E27FC236}">
                <a16:creationId xmlns:a16="http://schemas.microsoft.com/office/drawing/2014/main" id="{3C1E2DA5-9901-7F45-8AF9-F730B9526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77477">
            <a:off x="5503337" y="2435515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Arrow ">
            <a:extLst>
              <a:ext uri="{FF2B5EF4-FFF2-40B4-BE49-F238E27FC236}">
                <a16:creationId xmlns:a16="http://schemas.microsoft.com/office/drawing/2014/main" id="{FE9CF476-82E8-5BB2-767F-BC9F1CF54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91398">
            <a:off x="3873252" y="25619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Right arrow ">
            <a:extLst>
              <a:ext uri="{FF2B5EF4-FFF2-40B4-BE49-F238E27FC236}">
                <a16:creationId xmlns:a16="http://schemas.microsoft.com/office/drawing/2014/main" id="{80394FF1-E3A7-8E34-0A89-49860266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985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Right arrow ">
            <a:extLst>
              <a:ext uri="{FF2B5EF4-FFF2-40B4-BE49-F238E27FC236}">
                <a16:creationId xmlns:a16="http://schemas.microsoft.com/office/drawing/2014/main" id="{001B5EC4-0066-E8DC-E81B-2BE905553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231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DC172036-7625-5CB5-F269-536284785D91}"/>
              </a:ext>
            </a:extLst>
          </p:cNvPr>
          <p:cNvSpPr txBox="1"/>
          <p:nvPr/>
        </p:nvSpPr>
        <p:spPr>
          <a:xfrm>
            <a:off x="7238765" y="4067768"/>
            <a:ext cx="8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4AE33A-54D4-072F-8095-D896F905DB4C}"/>
              </a:ext>
            </a:extLst>
          </p:cNvPr>
          <p:cNvSpPr txBox="1"/>
          <p:nvPr/>
        </p:nvSpPr>
        <p:spPr>
          <a:xfrm>
            <a:off x="1945937" y="4067768"/>
            <a:ext cx="92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Users</a:t>
            </a:r>
            <a:endParaRPr lang="zh-TW" altLang="en-US" sz="24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4337D1F-A85B-3928-9BA6-C7A20078F6C4}"/>
              </a:ext>
            </a:extLst>
          </p:cNvPr>
          <p:cNvSpPr txBox="1"/>
          <p:nvPr/>
        </p:nvSpPr>
        <p:spPr>
          <a:xfrm>
            <a:off x="10034357" y="4067768"/>
            <a:ext cx="6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2" name="Picture 2" descr="Ai ">
            <a:extLst>
              <a:ext uri="{FF2B5EF4-FFF2-40B4-BE49-F238E27FC236}">
                <a16:creationId xmlns:a16="http://schemas.microsoft.com/office/drawing/2014/main" id="{D3266D4D-66BC-C9CF-A726-866452135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94" y="156739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DD2FA9-A11A-0C98-E90D-6968240B1062}"/>
              </a:ext>
            </a:extLst>
          </p:cNvPr>
          <p:cNvSpPr txBox="1"/>
          <p:nvPr/>
        </p:nvSpPr>
        <p:spPr>
          <a:xfrm>
            <a:off x="4461103" y="2352461"/>
            <a:ext cx="131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API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67A3029-F551-E700-73FE-4AC4923FFFF1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68632648-9F8E-94B5-C92A-537F27304E5E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A65078B9-620C-516F-6EF8-9D6D9CB19379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F467CB89-4251-7AE5-9BC0-ADC0FEA4331B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58E6D90-4D48-E0F5-64D6-93942FD483F4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3352D65A-75E9-65D3-420A-CD9B5697175B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394824BB-C1B6-7B9E-D267-BCB0C90B2649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279CD6CB-39CB-7DDD-2B76-8FCC538B18C4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EF318A51-6A1F-5970-50DD-9760F8292C71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22386D6C-4BD8-624D-429A-1198DC299D15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D3F561-F3DD-7A44-205F-20317CC1C2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862" y="3260764"/>
            <a:ext cx="792000" cy="79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0C79C6-B60E-4565-FC30-E4A0BE9399F4}"/>
              </a:ext>
            </a:extLst>
          </p:cNvPr>
          <p:cNvSpPr txBox="1"/>
          <p:nvPr/>
        </p:nvSpPr>
        <p:spPr>
          <a:xfrm>
            <a:off x="2939695" y="3904048"/>
            <a:ext cx="154862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①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提示詞設計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Picture 12" descr="Right arrow ">
            <a:extLst>
              <a:ext uri="{FF2B5EF4-FFF2-40B4-BE49-F238E27FC236}">
                <a16:creationId xmlns:a16="http://schemas.microsoft.com/office/drawing/2014/main" id="{0081C88E-1FEC-E72D-8DA1-7EB1DAB00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39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rver ">
            <a:extLst>
              <a:ext uri="{FF2B5EF4-FFF2-40B4-BE49-F238E27FC236}">
                <a16:creationId xmlns:a16="http://schemas.microsoft.com/office/drawing/2014/main" id="{1261DBB3-D6D2-A5BC-1D40-00185456B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108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Student ">
            <a:extLst>
              <a:ext uri="{FF2B5EF4-FFF2-40B4-BE49-F238E27FC236}">
                <a16:creationId xmlns:a16="http://schemas.microsoft.com/office/drawing/2014/main" id="{C652D6AE-6D4C-BC6A-E9BE-E8CAE6C41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16" y="3260764"/>
            <a:ext cx="792000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內容版面配置區 46" descr="一張含有 螢幕擷取畫面, 像素, 設計 的圖片&#10;&#10;AI 產生的內容可能不正確。">
            <a:extLst>
              <a:ext uri="{FF2B5EF4-FFF2-40B4-BE49-F238E27FC236}">
                <a16:creationId xmlns:a16="http://schemas.microsoft.com/office/drawing/2014/main" id="{DE82F7DE-B574-BDD6-83E9-350B33E6B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353" y="3260764"/>
            <a:ext cx="792000" cy="792000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B587CEF-9753-294B-274B-40E740281E7F}"/>
              </a:ext>
            </a:extLst>
          </p:cNvPr>
          <p:cNvSpPr txBox="1"/>
          <p:nvPr/>
        </p:nvSpPr>
        <p:spPr>
          <a:xfrm>
            <a:off x="3862982" y="5678488"/>
            <a:ext cx="6751565" cy="7083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會監控與回傳執行結果至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進行分析與規劃後續步驟，若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判斷已成功重現，任務即結束；反之則重複上述流程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D57602-6D6C-B8DB-45E1-EC641C565F51}"/>
              </a:ext>
            </a:extLst>
          </p:cNvPr>
          <p:cNvSpPr txBox="1"/>
          <p:nvPr/>
        </p:nvSpPr>
        <p:spPr>
          <a:xfrm>
            <a:off x="4392327" y="2745431"/>
            <a:ext cx="131077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②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任務規劃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F9188CF-7FA0-08DE-9DE9-868FBE10DF2B}"/>
              </a:ext>
            </a:extLst>
          </p:cNvPr>
          <p:cNvSpPr txBox="1"/>
          <p:nvPr/>
        </p:nvSpPr>
        <p:spPr>
          <a:xfrm>
            <a:off x="5753472" y="3898491"/>
            <a:ext cx="13305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③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工具調用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E039C22-C998-51E3-E27B-20EBE12D0592}"/>
              </a:ext>
            </a:extLst>
          </p:cNvPr>
          <p:cNvSpPr txBox="1"/>
          <p:nvPr/>
        </p:nvSpPr>
        <p:spPr>
          <a:xfrm>
            <a:off x="8374239" y="3883487"/>
            <a:ext cx="1330573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④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5C4DC714-BDD0-AC73-10E6-B778F3B14DD0}"/>
              </a:ext>
            </a:extLst>
          </p:cNvPr>
          <p:cNvCxnSpPr>
            <a:cxnSpLocks/>
            <a:stCxn id="3" idx="0"/>
            <a:endCxn id="51" idx="2"/>
          </p:cNvCxnSpPr>
          <p:nvPr/>
        </p:nvCxnSpPr>
        <p:spPr>
          <a:xfrm flipV="1">
            <a:off x="7238765" y="5350271"/>
            <a:ext cx="448343" cy="3282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12" descr="Right arrow ">
            <a:extLst>
              <a:ext uri="{FF2B5EF4-FFF2-40B4-BE49-F238E27FC236}">
                <a16:creationId xmlns:a16="http://schemas.microsoft.com/office/drawing/2014/main" id="{B4F2816C-B425-58D5-A761-B64BDD81C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814033" y="4398160"/>
            <a:ext cx="475047" cy="64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A732D8C8-88A7-B276-0C36-81198A54889E}"/>
              </a:ext>
            </a:extLst>
          </p:cNvPr>
          <p:cNvSpPr/>
          <p:nvPr/>
        </p:nvSpPr>
        <p:spPr>
          <a:xfrm>
            <a:off x="5026254" y="4929678"/>
            <a:ext cx="534960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32AEB67-22BF-3EAA-2DEF-9AF0B7F94D48}"/>
              </a:ext>
            </a:extLst>
          </p:cNvPr>
          <p:cNvSpPr/>
          <p:nvPr/>
        </p:nvSpPr>
        <p:spPr>
          <a:xfrm rot="5400000">
            <a:off x="10102491" y="4677104"/>
            <a:ext cx="504000" cy="54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6465B691-2C3A-860E-0074-350837AE257C}"/>
              </a:ext>
            </a:extLst>
          </p:cNvPr>
          <p:cNvSpPr txBox="1"/>
          <p:nvPr/>
        </p:nvSpPr>
        <p:spPr>
          <a:xfrm>
            <a:off x="6763986" y="5011717"/>
            <a:ext cx="1846244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⑤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監控執行結果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D8C837C-A832-F716-3FE1-A36F509EC00F}"/>
              </a:ext>
            </a:extLst>
          </p:cNvPr>
          <p:cNvSpPr txBox="1"/>
          <p:nvPr/>
        </p:nvSpPr>
        <p:spPr>
          <a:xfrm>
            <a:off x="9283884" y="2606931"/>
            <a:ext cx="215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</a:t>
            </a:r>
          </a:p>
          <a:p>
            <a:pPr algn="ctr"/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296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7E5AF2-E698-69F8-0C09-0B8FA873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CA644B-C722-F7ED-3DFC-604766AF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DDF35F1-AEEF-95A9-A9A3-2B672F92B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730" y="3189567"/>
            <a:ext cx="576000" cy="576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413D892-A6C9-8E6D-4C54-1CB1B605E2B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781" y="4885778"/>
            <a:ext cx="792000" cy="7920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05785C4F-B90F-836B-B25A-3B8D4AB65B7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730" y="4862061"/>
            <a:ext cx="792000" cy="792000"/>
          </a:xfrm>
          <a:prstGeom prst="rect">
            <a:avLst/>
          </a:prstGeom>
        </p:spPr>
      </p:pic>
      <p:sp>
        <p:nvSpPr>
          <p:cNvPr id="30" name="向上箭號 20">
            <a:extLst>
              <a:ext uri="{FF2B5EF4-FFF2-40B4-BE49-F238E27FC236}">
                <a16:creationId xmlns:a16="http://schemas.microsoft.com/office/drawing/2014/main" id="{0760F361-CF37-B4EC-E1C9-4F8740EC2090}"/>
              </a:ext>
            </a:extLst>
          </p:cNvPr>
          <p:cNvSpPr/>
          <p:nvPr/>
        </p:nvSpPr>
        <p:spPr>
          <a:xfrm>
            <a:off x="5874236" y="3939586"/>
            <a:ext cx="440987" cy="792000"/>
          </a:xfrm>
          <a:prstGeom prst="up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299975E-3F23-5728-03B7-F06977897647}"/>
              </a:ext>
            </a:extLst>
          </p:cNvPr>
          <p:cNvSpPr txBox="1"/>
          <p:nvPr/>
        </p:nvSpPr>
        <p:spPr>
          <a:xfrm>
            <a:off x="6211604" y="4486417"/>
            <a:ext cx="2372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+mj-lt"/>
              <a:buAutoNum type="arabicPeriod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使用者在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虛擬機的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VS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code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下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prompt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跟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說明要執行的任務</a:t>
            </a:r>
          </a:p>
        </p:txBody>
      </p:sp>
      <p:sp>
        <p:nvSpPr>
          <p:cNvPr id="38" name="向上箭號 27">
            <a:extLst>
              <a:ext uri="{FF2B5EF4-FFF2-40B4-BE49-F238E27FC236}">
                <a16:creationId xmlns:a16="http://schemas.microsoft.com/office/drawing/2014/main" id="{5C5E7B7B-AB36-5527-FA25-E152FEC7AB20}"/>
              </a:ext>
            </a:extLst>
          </p:cNvPr>
          <p:cNvSpPr/>
          <p:nvPr/>
        </p:nvSpPr>
        <p:spPr>
          <a:xfrm rot="16200000">
            <a:off x="3262407" y="1870762"/>
            <a:ext cx="440987" cy="792000"/>
          </a:xfrm>
          <a:prstGeom prst="up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AE2B398-021B-9A76-185D-F75BA223E001}"/>
              </a:ext>
            </a:extLst>
          </p:cNvPr>
          <p:cNvSpPr txBox="1"/>
          <p:nvPr/>
        </p:nvSpPr>
        <p:spPr>
          <a:xfrm>
            <a:off x="2619546" y="1346631"/>
            <a:ext cx="260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+mj-lt"/>
              <a:buAutoNum type="arabicPeriod" startAt="2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將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prompt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等資訊傳送給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4" name="向上箭號 29">
            <a:extLst>
              <a:ext uri="{FF2B5EF4-FFF2-40B4-BE49-F238E27FC236}">
                <a16:creationId xmlns:a16="http://schemas.microsoft.com/office/drawing/2014/main" id="{4E6D45BB-1377-8225-7E84-93E0B89D5AE1}"/>
              </a:ext>
            </a:extLst>
          </p:cNvPr>
          <p:cNvSpPr/>
          <p:nvPr/>
        </p:nvSpPr>
        <p:spPr>
          <a:xfrm rot="5400000">
            <a:off x="3262406" y="2436115"/>
            <a:ext cx="440987" cy="792000"/>
          </a:xfrm>
          <a:prstGeom prst="up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C10AFCC-D77A-5B08-E86B-7D6346ED292C}"/>
              </a:ext>
            </a:extLst>
          </p:cNvPr>
          <p:cNvSpPr txBox="1"/>
          <p:nvPr/>
        </p:nvSpPr>
        <p:spPr>
          <a:xfrm>
            <a:off x="2619546" y="3173321"/>
            <a:ext cx="22361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+mj-lt"/>
              <a:buAutoNum type="arabicPeriod" startAt="3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回傳要操作哪個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、操作的參數等資訊給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6" name="向上箭號 36">
            <a:extLst>
              <a:ext uri="{FF2B5EF4-FFF2-40B4-BE49-F238E27FC236}">
                <a16:creationId xmlns:a16="http://schemas.microsoft.com/office/drawing/2014/main" id="{E2EE1E58-017A-1414-6C0E-82965994181C}"/>
              </a:ext>
            </a:extLst>
          </p:cNvPr>
          <p:cNvSpPr/>
          <p:nvPr/>
        </p:nvSpPr>
        <p:spPr>
          <a:xfrm rot="5400000">
            <a:off x="7660822" y="1870763"/>
            <a:ext cx="440987" cy="792000"/>
          </a:xfrm>
          <a:prstGeom prst="up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8A48A45-67EE-ACF5-9003-74B3F74E9D49}"/>
              </a:ext>
            </a:extLst>
          </p:cNvPr>
          <p:cNvSpPr txBox="1"/>
          <p:nvPr/>
        </p:nvSpPr>
        <p:spPr>
          <a:xfrm>
            <a:off x="6819890" y="1368815"/>
            <a:ext cx="2603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+mj-lt"/>
              <a:buAutoNum type="arabicPeriod" startAt="4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根據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回傳的結果，調用對應的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2" name="向上箭號 38">
            <a:extLst>
              <a:ext uri="{FF2B5EF4-FFF2-40B4-BE49-F238E27FC236}">
                <a16:creationId xmlns:a16="http://schemas.microsoft.com/office/drawing/2014/main" id="{4F30ADB7-1CC9-857A-8319-2315DCF00893}"/>
              </a:ext>
            </a:extLst>
          </p:cNvPr>
          <p:cNvSpPr/>
          <p:nvPr/>
        </p:nvSpPr>
        <p:spPr>
          <a:xfrm rot="10800000">
            <a:off x="10018063" y="3935814"/>
            <a:ext cx="440987" cy="792000"/>
          </a:xfrm>
          <a:prstGeom prst="up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39E36FD-56C2-C8D6-157B-D1A9BED770E3}"/>
              </a:ext>
            </a:extLst>
          </p:cNvPr>
          <p:cNvSpPr txBox="1"/>
          <p:nvPr/>
        </p:nvSpPr>
        <p:spPr>
          <a:xfrm>
            <a:off x="10373781" y="3901642"/>
            <a:ext cx="17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+mj-lt"/>
              <a:buAutoNum type="arabicPeriod" startAt="5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被調用的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、工具會在</a:t>
            </a:r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sz="1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虛擬機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上執行指令</a:t>
            </a:r>
          </a:p>
        </p:txBody>
      </p:sp>
      <p:sp>
        <p:nvSpPr>
          <p:cNvPr id="54" name="圓角矩形 52">
            <a:extLst>
              <a:ext uri="{FF2B5EF4-FFF2-40B4-BE49-F238E27FC236}">
                <a16:creationId xmlns:a16="http://schemas.microsoft.com/office/drawing/2014/main" id="{B90AE16B-B04C-4004-71C8-5CF55FAC74EC}"/>
              </a:ext>
            </a:extLst>
          </p:cNvPr>
          <p:cNvSpPr/>
          <p:nvPr/>
        </p:nvSpPr>
        <p:spPr>
          <a:xfrm>
            <a:off x="895738" y="1870758"/>
            <a:ext cx="2027051" cy="1008000"/>
          </a:xfrm>
          <a:prstGeom prst="roundRect">
            <a:avLst>
              <a:gd name="adj" fmla="val 1209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付費購買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OpenAI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API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額度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使用雲端推理模型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GPT-4.1 mini</a:t>
            </a:r>
          </a:p>
        </p:txBody>
      </p:sp>
      <p:sp>
        <p:nvSpPr>
          <p:cNvPr id="58" name="圓角矩形 53">
            <a:extLst>
              <a:ext uri="{FF2B5EF4-FFF2-40B4-BE49-F238E27FC236}">
                <a16:creationId xmlns:a16="http://schemas.microsoft.com/office/drawing/2014/main" id="{E30978B3-E916-D007-AD80-6CC2D0515A5E}"/>
              </a:ext>
            </a:extLst>
          </p:cNvPr>
          <p:cNvSpPr/>
          <p:nvPr/>
        </p:nvSpPr>
        <p:spPr>
          <a:xfrm>
            <a:off x="4043010" y="1892052"/>
            <a:ext cx="3278197" cy="1260000"/>
          </a:xfrm>
          <a:prstGeom prst="roundRect">
            <a:avLst>
              <a:gd name="adj" fmla="val 1209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虛擬機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上安裝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VS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code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VS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code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內安裝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插件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設定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連結至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GPT-4.1 mini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新增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rule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讓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更擅長處理下達的任務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9" name="圓角矩形 55">
            <a:extLst>
              <a:ext uri="{FF2B5EF4-FFF2-40B4-BE49-F238E27FC236}">
                <a16:creationId xmlns:a16="http://schemas.microsoft.com/office/drawing/2014/main" id="{E32566C7-8210-C525-EE82-B67C5036F2B9}"/>
              </a:ext>
            </a:extLst>
          </p:cNvPr>
          <p:cNvSpPr/>
          <p:nvPr/>
        </p:nvSpPr>
        <p:spPr>
          <a:xfrm>
            <a:off x="8436855" y="1869851"/>
            <a:ext cx="3094226" cy="1908000"/>
          </a:xfrm>
          <a:prstGeom prst="roundRect">
            <a:avLst>
              <a:gd name="adj" fmla="val 1209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Smithery.ai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(MCP server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整合網站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、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en-US" altLang="zh-TW" sz="1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mcpmarket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上尋找合適的功能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將現存合適的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連接至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虛擬機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內的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作為工具庫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額外製作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給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ADCE4986-F7D2-A678-B276-3FBB25CCC204}"/>
              </a:ext>
            </a:extLst>
          </p:cNvPr>
          <p:cNvSpPr txBox="1"/>
          <p:nvPr/>
        </p:nvSpPr>
        <p:spPr>
          <a:xfrm>
            <a:off x="533523" y="5674083"/>
            <a:ext cx="3332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imes New Roman" panose="02020603050405020304" pitchFamily="18" charset="0"/>
              <a:buChar char="※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由於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Cline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不能直接修改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system prompt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，但能透過新增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rule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進行微調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E6066B5-29BC-18BA-68B8-4EB5CCE49A0A}"/>
              </a:ext>
            </a:extLst>
          </p:cNvPr>
          <p:cNvSpPr txBox="1"/>
          <p:nvPr/>
        </p:nvSpPr>
        <p:spPr>
          <a:xfrm>
            <a:off x="10373781" y="5154558"/>
            <a:ext cx="17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 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CB30C145-2AF9-D1C6-8768-04173DC16E17}"/>
              </a:ext>
            </a:extLst>
          </p:cNvPr>
          <p:cNvGrpSpPr/>
          <p:nvPr/>
        </p:nvGrpSpPr>
        <p:grpSpPr>
          <a:xfrm>
            <a:off x="1305000" y="2952211"/>
            <a:ext cx="1208526" cy="871980"/>
            <a:chOff x="905789" y="3106613"/>
            <a:chExt cx="1208526" cy="87198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B489BFD1-FA8F-BE82-CA7B-76A316B923B7}"/>
                </a:ext>
              </a:extLst>
            </p:cNvPr>
            <p:cNvSpPr txBox="1"/>
            <p:nvPr/>
          </p:nvSpPr>
          <p:spPr>
            <a:xfrm>
              <a:off x="905789" y="3670816"/>
              <a:ext cx="1208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GPT-4.1 mini</a:t>
              </a:r>
              <a:endPara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pic>
          <p:nvPicPr>
            <p:cNvPr id="67" name="圖形 66">
              <a:extLst>
                <a:ext uri="{FF2B5EF4-FFF2-40B4-BE49-F238E27FC236}">
                  <a16:creationId xmlns:a16="http://schemas.microsoft.com/office/drawing/2014/main" id="{3A9CA97B-184C-DDBB-12EA-EFD319C98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4162" y="3106613"/>
              <a:ext cx="576000" cy="576000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B95020C1-3A8A-EF70-F311-829547EFEB5A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A222DAD6-A6CA-3AB3-BEF2-D3CB06F5D57D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0DF513CC-2A73-F3BC-C035-4DA61AB6A8D7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E8754A5-2FE3-AF7E-8240-5922F1A4CA8E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24DD70A-3EC9-9107-A802-E7366C54B830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0C8B9AF3-856E-4CA0-937A-E60D138B1335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A6296524-37A0-A4ED-AC94-07904F5A7052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E8C5CD5-A463-CF7B-DE5C-478EC0F6376B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2A76BCA-0953-50A5-CADC-B946FFC183EB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80B4BBB-254C-AA08-8493-7C2A9CD3CE13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CC11862-3A86-4483-03DF-512461779CB8}"/>
              </a:ext>
            </a:extLst>
          </p:cNvPr>
          <p:cNvSpPr txBox="1"/>
          <p:nvPr/>
        </p:nvSpPr>
        <p:spPr>
          <a:xfrm>
            <a:off x="9819897" y="5055804"/>
            <a:ext cx="55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501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0F8825-554C-D219-81D5-CBD612DF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E2E71891-86B1-6EED-B6BF-114024B897B0}"/>
              </a:ext>
            </a:extLst>
          </p:cNvPr>
          <p:cNvSpPr txBox="1"/>
          <p:nvPr/>
        </p:nvSpPr>
        <p:spPr>
          <a:xfrm>
            <a:off x="2619546" y="1356141"/>
            <a:ext cx="2389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Font typeface="+mj-lt"/>
              <a:buAutoNum type="arabicPeriod" startAt="7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將執行結果傳給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進行分析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3C8A2D-A081-B69F-A9DB-174A7FF1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65" y="589659"/>
            <a:ext cx="10165934" cy="552857"/>
          </a:xfrm>
        </p:spPr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6194E40-959B-4CBA-4EE5-7DED1E77E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730" y="3189567"/>
            <a:ext cx="576000" cy="576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A7DD235-0159-1872-300A-0A03BA41CAC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781" y="4885778"/>
            <a:ext cx="792000" cy="7920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550BDD2-0813-8DE8-60C2-9BE6C985CED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730" y="4862061"/>
            <a:ext cx="792000" cy="792000"/>
          </a:xfrm>
          <a:prstGeom prst="rect">
            <a:avLst/>
          </a:prstGeom>
        </p:spPr>
      </p:pic>
      <p:sp>
        <p:nvSpPr>
          <p:cNvPr id="38" name="向上箭號 27">
            <a:extLst>
              <a:ext uri="{FF2B5EF4-FFF2-40B4-BE49-F238E27FC236}">
                <a16:creationId xmlns:a16="http://schemas.microsoft.com/office/drawing/2014/main" id="{F042EE97-33E2-F145-EE24-58DF534B1BB6}"/>
              </a:ext>
            </a:extLst>
          </p:cNvPr>
          <p:cNvSpPr/>
          <p:nvPr/>
        </p:nvSpPr>
        <p:spPr>
          <a:xfrm rot="16200000">
            <a:off x="3262407" y="1870762"/>
            <a:ext cx="440987" cy="792000"/>
          </a:xfrm>
          <a:prstGeom prst="upArrow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4" name="向上箭號 29">
            <a:extLst>
              <a:ext uri="{FF2B5EF4-FFF2-40B4-BE49-F238E27FC236}">
                <a16:creationId xmlns:a16="http://schemas.microsoft.com/office/drawing/2014/main" id="{8CDF2525-9DAB-6489-6461-C839D707006C}"/>
              </a:ext>
            </a:extLst>
          </p:cNvPr>
          <p:cNvSpPr/>
          <p:nvPr/>
        </p:nvSpPr>
        <p:spPr>
          <a:xfrm rot="5400000">
            <a:off x="3262406" y="2436115"/>
            <a:ext cx="440987" cy="792000"/>
          </a:xfrm>
          <a:prstGeom prst="upArrow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52" name="向上箭號 38">
            <a:extLst>
              <a:ext uri="{FF2B5EF4-FFF2-40B4-BE49-F238E27FC236}">
                <a16:creationId xmlns:a16="http://schemas.microsoft.com/office/drawing/2014/main" id="{9100B768-7DF4-C4F9-28FF-9F8DD0826DB0}"/>
              </a:ext>
            </a:extLst>
          </p:cNvPr>
          <p:cNvSpPr/>
          <p:nvPr/>
        </p:nvSpPr>
        <p:spPr>
          <a:xfrm rot="10800000">
            <a:off x="10018063" y="3935814"/>
            <a:ext cx="440987" cy="792000"/>
          </a:xfrm>
          <a:prstGeom prst="up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4B755BAC-2979-5BD5-9E35-1831B2BD9C3F}"/>
              </a:ext>
            </a:extLst>
          </p:cNvPr>
          <p:cNvSpPr txBox="1"/>
          <p:nvPr/>
        </p:nvSpPr>
        <p:spPr>
          <a:xfrm>
            <a:off x="10373781" y="3901642"/>
            <a:ext cx="17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+mj-lt"/>
              <a:buAutoNum type="arabicPeriod" startAt="5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被調用的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MCP server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、工具會在</a:t>
            </a:r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sz="14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虛擬機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上執行指令</a:t>
            </a:r>
          </a:p>
        </p:txBody>
      </p:sp>
      <p:sp>
        <p:nvSpPr>
          <p:cNvPr id="54" name="圓角矩形 52">
            <a:extLst>
              <a:ext uri="{FF2B5EF4-FFF2-40B4-BE49-F238E27FC236}">
                <a16:creationId xmlns:a16="http://schemas.microsoft.com/office/drawing/2014/main" id="{6A987CFD-9C0D-67FA-7422-055C8F1852F5}"/>
              </a:ext>
            </a:extLst>
          </p:cNvPr>
          <p:cNvSpPr/>
          <p:nvPr/>
        </p:nvSpPr>
        <p:spPr>
          <a:xfrm>
            <a:off x="895738" y="1870758"/>
            <a:ext cx="2027051" cy="1008000"/>
          </a:xfrm>
          <a:prstGeom prst="roundRect">
            <a:avLst>
              <a:gd name="adj" fmla="val 1209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付費購買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OpenAI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API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額度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使用雲端推理模型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GPT-4.1 mini</a:t>
            </a:r>
          </a:p>
        </p:txBody>
      </p:sp>
      <p:sp>
        <p:nvSpPr>
          <p:cNvPr id="58" name="圓角矩形 53">
            <a:extLst>
              <a:ext uri="{FF2B5EF4-FFF2-40B4-BE49-F238E27FC236}">
                <a16:creationId xmlns:a16="http://schemas.microsoft.com/office/drawing/2014/main" id="{BA71FD3D-8A82-FF16-2AA4-E9B2F9F7F225}"/>
              </a:ext>
            </a:extLst>
          </p:cNvPr>
          <p:cNvSpPr/>
          <p:nvPr/>
        </p:nvSpPr>
        <p:spPr>
          <a:xfrm>
            <a:off x="4043010" y="1892052"/>
            <a:ext cx="3278197" cy="1260000"/>
          </a:xfrm>
          <a:prstGeom prst="roundRect">
            <a:avLst>
              <a:gd name="adj" fmla="val 1209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虛擬機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上安裝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VS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code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VS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code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內安裝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插件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設定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連結至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GPT-4.1 mini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新增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rule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讓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LLM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更擅長處理下達的任務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9" name="圓角矩形 55">
            <a:extLst>
              <a:ext uri="{FF2B5EF4-FFF2-40B4-BE49-F238E27FC236}">
                <a16:creationId xmlns:a16="http://schemas.microsoft.com/office/drawing/2014/main" id="{8A5BD7A1-1A31-4E7E-447C-9B6973109832}"/>
              </a:ext>
            </a:extLst>
          </p:cNvPr>
          <p:cNvSpPr/>
          <p:nvPr/>
        </p:nvSpPr>
        <p:spPr>
          <a:xfrm>
            <a:off x="8436855" y="1869851"/>
            <a:ext cx="3094226" cy="1908000"/>
          </a:xfrm>
          <a:prstGeom prst="roundRect">
            <a:avLst>
              <a:gd name="adj" fmla="val 1209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Smithery.ai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(MCP server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整合網站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、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en-US" altLang="zh-TW" sz="1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mcpmarket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上尋找合適的功能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將現存合適的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連接至 </a:t>
            </a:r>
            <a:r>
              <a:rPr lang="en-US" altLang="zh-TW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Windows </a:t>
            </a:r>
            <a:r>
              <a:rPr lang="zh-TW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虛擬機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內的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作為工具庫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額外製作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MCP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server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給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使用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EB3B2D9E-9970-0644-FB32-0B0A6BA01C93}"/>
              </a:ext>
            </a:extLst>
          </p:cNvPr>
          <p:cNvSpPr txBox="1"/>
          <p:nvPr/>
        </p:nvSpPr>
        <p:spPr>
          <a:xfrm>
            <a:off x="533523" y="5674083"/>
            <a:ext cx="3332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imes New Roman" panose="02020603050405020304" pitchFamily="18" charset="0"/>
              <a:buChar char="※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由於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Cline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不能直接修改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system prompt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，但能透過新增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rule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進行微調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8421CC88-F801-81BC-BFFF-76433FB60A83}"/>
              </a:ext>
            </a:extLst>
          </p:cNvPr>
          <p:cNvSpPr txBox="1"/>
          <p:nvPr/>
        </p:nvSpPr>
        <p:spPr>
          <a:xfrm>
            <a:off x="10373781" y="5154558"/>
            <a:ext cx="17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Windows 10 22h2 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10.0.19045.5440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EEF4F9F8-6D01-EC7B-F566-5CE8DFFE891A}"/>
              </a:ext>
            </a:extLst>
          </p:cNvPr>
          <p:cNvGrpSpPr/>
          <p:nvPr/>
        </p:nvGrpSpPr>
        <p:grpSpPr>
          <a:xfrm>
            <a:off x="1305000" y="2952211"/>
            <a:ext cx="1208526" cy="871980"/>
            <a:chOff x="905789" y="3106613"/>
            <a:chExt cx="1208526" cy="87198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AB347464-6E18-B438-0692-2A88C48695D4}"/>
                </a:ext>
              </a:extLst>
            </p:cNvPr>
            <p:cNvSpPr txBox="1"/>
            <p:nvPr/>
          </p:nvSpPr>
          <p:spPr>
            <a:xfrm>
              <a:off x="905789" y="3670816"/>
              <a:ext cx="12085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GPT-4.1 mini</a:t>
              </a:r>
              <a:endPara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pic>
          <p:nvPicPr>
            <p:cNvPr id="67" name="圖形 66">
              <a:extLst>
                <a:ext uri="{FF2B5EF4-FFF2-40B4-BE49-F238E27FC236}">
                  <a16:creationId xmlns:a16="http://schemas.microsoft.com/office/drawing/2014/main" id="{8EB1966C-3C55-5B51-6B8E-6CB357771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4162" y="3106613"/>
              <a:ext cx="576000" cy="576000"/>
            </a:xfrm>
            <a:prstGeom prst="rect">
              <a:avLst/>
            </a:prstGeom>
          </p:spPr>
        </p:pic>
      </p:grpSp>
      <p:sp>
        <p:nvSpPr>
          <p:cNvPr id="3" name="向上箭號 27">
            <a:extLst>
              <a:ext uri="{FF2B5EF4-FFF2-40B4-BE49-F238E27FC236}">
                <a16:creationId xmlns:a16="http://schemas.microsoft.com/office/drawing/2014/main" id="{95CAF633-4DF5-187A-5C3E-E712EFEE0A89}"/>
              </a:ext>
            </a:extLst>
          </p:cNvPr>
          <p:cNvSpPr/>
          <p:nvPr/>
        </p:nvSpPr>
        <p:spPr>
          <a:xfrm rot="16200000">
            <a:off x="7656253" y="2433489"/>
            <a:ext cx="440987" cy="792000"/>
          </a:xfrm>
          <a:prstGeom prst="upArrow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" name="向上箭號 27">
            <a:extLst>
              <a:ext uri="{FF2B5EF4-FFF2-40B4-BE49-F238E27FC236}">
                <a16:creationId xmlns:a16="http://schemas.microsoft.com/office/drawing/2014/main" id="{06A136CF-30D5-5421-BE73-7FBC2B97E945}"/>
              </a:ext>
            </a:extLst>
          </p:cNvPr>
          <p:cNvSpPr/>
          <p:nvPr/>
        </p:nvSpPr>
        <p:spPr>
          <a:xfrm rot="10800000">
            <a:off x="5292527" y="3982695"/>
            <a:ext cx="440987" cy="792000"/>
          </a:xfrm>
          <a:prstGeom prst="upArrow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5" name="向上箭號 27">
            <a:extLst>
              <a:ext uri="{FF2B5EF4-FFF2-40B4-BE49-F238E27FC236}">
                <a16:creationId xmlns:a16="http://schemas.microsoft.com/office/drawing/2014/main" id="{4D39F596-2A8D-AFF5-76B8-C7881990217C}"/>
              </a:ext>
            </a:extLst>
          </p:cNvPr>
          <p:cNvSpPr/>
          <p:nvPr/>
        </p:nvSpPr>
        <p:spPr>
          <a:xfrm>
            <a:off x="9542981" y="3935815"/>
            <a:ext cx="440987" cy="792000"/>
          </a:xfrm>
          <a:prstGeom prst="upArrow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0EA7AB6-D256-0C34-E090-DAB6D2157AF6}"/>
              </a:ext>
            </a:extLst>
          </p:cNvPr>
          <p:cNvSpPr txBox="1"/>
          <p:nvPr/>
        </p:nvSpPr>
        <p:spPr>
          <a:xfrm>
            <a:off x="3580261" y="4486417"/>
            <a:ext cx="1793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Font typeface="+mj-lt"/>
              <a:buAutoNum type="arabicPeriod" startAt="9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使用者根據任務的進度進行監控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1090BB5-4CF9-DEF7-608C-F44E683D2303}"/>
              </a:ext>
            </a:extLst>
          </p:cNvPr>
          <p:cNvSpPr txBox="1"/>
          <p:nvPr/>
        </p:nvSpPr>
        <p:spPr>
          <a:xfrm>
            <a:off x="2619546" y="3164743"/>
            <a:ext cx="2297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Font typeface="+mj-lt"/>
              <a:buAutoNum type="arabicPeriod" startAt="8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回傳要接下來的操作流程，如果都正常就結束任務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373B6E-F365-3B7D-2AF5-55E8B2F95032}"/>
              </a:ext>
            </a:extLst>
          </p:cNvPr>
          <p:cNvSpPr txBox="1"/>
          <p:nvPr/>
        </p:nvSpPr>
        <p:spPr>
          <a:xfrm>
            <a:off x="7675634" y="3901642"/>
            <a:ext cx="201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indent="-252000">
              <a:buFont typeface="+mj-lt"/>
              <a:buAutoNum type="arabicPeriod" startAt="6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Cline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會觀察執行結果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可能包含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 error) 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11AC73F5-E8F9-08C4-B31D-D123559B01D3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567973B1-F708-9E48-34C8-1A2A42451FA3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E115D01F-AAB6-14E3-B3AB-2EA46EA68222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830F350-0867-7171-AB13-90BEB1653E69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4C81B371-D86F-BE00-EC60-C74A55AF9729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D0DE9CFC-8110-2BF4-07FD-AAC046CEB483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4B31CBED-54F1-CCBE-3106-AF41B4BC466D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7EC5E6F-3B3A-4A2C-8C17-0E1683358CBB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57854A5C-A0F2-368D-F8F0-A69CFD6A6411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8BFE3326-AEED-C717-7D7E-5951E79B4D55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2733A92-BE01-66A4-1C51-FE696DAEF599}"/>
              </a:ext>
            </a:extLst>
          </p:cNvPr>
          <p:cNvSpPr txBox="1"/>
          <p:nvPr/>
        </p:nvSpPr>
        <p:spPr>
          <a:xfrm>
            <a:off x="9819897" y="5055804"/>
            <a:ext cx="55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VM</a:t>
            </a:r>
            <a:endParaRPr lang="zh-TW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6374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CD91-658A-E739-BEEC-B542BAFE9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C9001-DDD7-4A19-8DC9-E1EB9D26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66CC6934-98D4-20B4-3AA8-B09C691EA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1868910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提示詞設計：</a:t>
            </a:r>
            <a:endParaRPr lang="en-US" altLang="zh-TW" sz="2000" dirty="0"/>
          </a:p>
          <a:p>
            <a:pPr marL="825750" lvl="1" indent="-28575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為提升 </a:t>
            </a:r>
            <a:r>
              <a:rPr lang="en-US" altLang="zh-TW" sz="1800" dirty="0"/>
              <a:t>LLM </a:t>
            </a:r>
            <a:r>
              <a:rPr lang="zh-TW" altLang="en-US" sz="1800" dirty="0"/>
              <a:t>在漏洞重現任務的可靠與可控性，本研究</a:t>
            </a:r>
            <a:r>
              <a:rPr lang="zh-TW" altLang="en-US" sz="1800" b="1" dirty="0"/>
              <a:t>參考 </a:t>
            </a:r>
            <a:r>
              <a:rPr lang="en-US" altLang="zh-TW" sz="1800" b="1" dirty="0"/>
              <a:t>TIDD-EC </a:t>
            </a:r>
            <a:r>
              <a:rPr lang="zh-TW" altLang="en-US" sz="1800" b="1" dirty="0"/>
              <a:t>架構 </a:t>
            </a:r>
            <a:r>
              <a:rPr lang="en-US" altLang="zh-TW" sz="1800" b="1" dirty="0"/>
              <a:t>(Task Type, Instructions, Do, Don’t, Example, User Content) </a:t>
            </a:r>
            <a:r>
              <a:rPr lang="zh-TW" altLang="en-US" sz="1800" dirty="0"/>
              <a:t>，設計具備明確邏輯與限制規範的提示詞，引導 </a:t>
            </a:r>
            <a:r>
              <a:rPr lang="en-US" altLang="zh-TW" sz="1800" dirty="0"/>
              <a:t>LLM </a:t>
            </a:r>
            <a:r>
              <a:rPr lang="zh-TW" altLang="en-US" sz="1800" dirty="0"/>
              <a:t>在虛擬環境中進行完整 </a:t>
            </a:r>
            <a:r>
              <a:rPr lang="en-US" altLang="zh-TW" sz="1800" dirty="0"/>
              <a:t>CVE </a:t>
            </a:r>
            <a:r>
              <a:rPr lang="zh-TW" altLang="en-US" sz="1800" dirty="0"/>
              <a:t>分析與 </a:t>
            </a:r>
            <a:r>
              <a:rPr lang="en-US" altLang="zh-TW" sz="1800" dirty="0"/>
              <a:t>exploit </a:t>
            </a:r>
            <a:r>
              <a:rPr lang="zh-TW" altLang="en-US" sz="1800" dirty="0"/>
              <a:t>生成過程。以下是針對每個部分進行說明：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BEF6D34-84EB-2F97-FE15-641B7786B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439948"/>
              </p:ext>
            </p:extLst>
          </p:nvPr>
        </p:nvGraphicFramePr>
        <p:xfrm>
          <a:off x="1290568" y="3318747"/>
          <a:ext cx="9960528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574">
                  <a:extLst>
                    <a:ext uri="{9D8B030D-6E8A-4147-A177-3AD203B41FA5}">
                      <a16:colId xmlns:a16="http://schemas.microsoft.com/office/drawing/2014/main" val="4030884249"/>
                    </a:ext>
                  </a:extLst>
                </a:gridCol>
                <a:gridCol w="8494954">
                  <a:extLst>
                    <a:ext uri="{9D8B030D-6E8A-4147-A177-3AD203B41FA5}">
                      <a16:colId xmlns:a16="http://schemas.microsoft.com/office/drawing/2014/main" val="152669953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Task Type</a:t>
                      </a:r>
                      <a:endParaRPr lang="zh-TW" altLang="en-US" sz="16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定義 </a:t>
                      </a:r>
                      <a:r>
                        <a:rPr lang="en-US" altLang="zh-TW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LLM </a:t>
                      </a: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角色身分與任務目標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609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Instruction</a:t>
                      </a:r>
                      <a:endParaRPr lang="zh-TW" altLang="en-US" sz="16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列出完整操作流程順序要求，涵蓋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系統辨識、</a:t>
                      </a: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 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資訊蒐集、環境驗證等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92246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Do</a:t>
                      </a:r>
                      <a:endParaRPr lang="zh-TW" altLang="en-US" sz="16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規範 </a:t>
                      </a:r>
                      <a:r>
                        <a:rPr lang="en-US" altLang="zh-TW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LLM </a:t>
                      </a: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可執行的有效任務範圍，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避免安全審查導致拒絕撰寫程式或執行攻擊指令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2146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Don’t</a:t>
                      </a:r>
                      <a:endParaRPr lang="zh-TW" altLang="en-US" sz="16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規範 </a:t>
                      </a:r>
                      <a:r>
                        <a:rPr lang="en-US" altLang="zh-TW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LLM </a:t>
                      </a: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易犯錯誤與抄襲等行為，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避免 </a:t>
                      </a: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LLM 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使用現有 </a:t>
                      </a: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PoC </a:t>
                      </a: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或於動作未完成前執行下一步驟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199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User Content</a:t>
                      </a:r>
                      <a:endParaRPr lang="zh-TW" altLang="en-US" sz="16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用於明確</a:t>
                      </a:r>
                      <a:r>
                        <a:rPr lang="zh-TW" altLang="en-US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指定本次任務的實際操作對象與最終輸出</a:t>
                      </a:r>
                      <a:endParaRPr lang="en-US" altLang="zh-TW" sz="1600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912793"/>
                  </a:ext>
                </a:extLst>
              </a:tr>
            </a:tbl>
          </a:graphicData>
        </a:graphic>
      </p:graphicFrame>
      <p:grpSp>
        <p:nvGrpSpPr>
          <p:cNvPr id="4" name="群組 3">
            <a:extLst>
              <a:ext uri="{FF2B5EF4-FFF2-40B4-BE49-F238E27FC236}">
                <a16:creationId xmlns:a16="http://schemas.microsoft.com/office/drawing/2014/main" id="{970ECDC4-8024-154C-2F55-E6F4A6EAE085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B2AE43A4-2AD2-17F6-BBF7-513D921DD596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EE445580-DE3E-9770-2832-62F22B293563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D3E52F-9290-76D8-F2B0-0C26C226A99B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1BFFD84-CDDE-345B-7504-4D022738F410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60F01534-E315-E317-2005-3D49AF31F23D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B69AAB82-71E6-E97F-EAF5-4791B8A6CFE5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167163D-F9A2-9D2D-4F4B-C9ABA47F33E1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9AF2F79-92DD-8CFF-A907-0FDCA0F48D2F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4EF1DDC-9913-2ADF-20E3-3CE799377262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3932499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EFA0-117D-FF09-7712-8F2BACC8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B23233-52B2-F390-595D-D43D203B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64E6877B-AA78-B4C9-FD74-1DBCC2E9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1868910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工具調用：</a:t>
            </a:r>
            <a:endParaRPr lang="en-US" altLang="zh-TW" sz="2000" dirty="0"/>
          </a:p>
          <a:p>
            <a:pPr marL="825750" lvl="1" indent="-28575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zh-TW" sz="1800" dirty="0"/>
              <a:t>為</a:t>
            </a:r>
            <a:r>
              <a:rPr lang="zh-TW" altLang="en-US" sz="1800" dirty="0"/>
              <a:t>了</a:t>
            </a:r>
            <a:r>
              <a:rPr lang="zh-TW" altLang="zh-TW" sz="1800" dirty="0"/>
              <a:t>提升 </a:t>
            </a:r>
            <a:r>
              <a:rPr lang="en-US" altLang="zh-TW" sz="1800" dirty="0"/>
              <a:t>AI </a:t>
            </a:r>
            <a:r>
              <a:rPr lang="zh-TW" altLang="zh-TW" sz="1800" dirty="0"/>
              <a:t>代理的能力，除了整合既有的 </a:t>
            </a:r>
            <a:r>
              <a:rPr lang="en-US" altLang="zh-TW" sz="1800" dirty="0"/>
              <a:t>MCP Server </a:t>
            </a:r>
            <a:r>
              <a:rPr lang="zh-TW" altLang="zh-TW" sz="1800" dirty="0"/>
              <a:t>外，</a:t>
            </a:r>
            <a:r>
              <a:rPr lang="zh-TW" altLang="zh-TW" sz="1800" b="1" dirty="0"/>
              <a:t>本研究亦針對部分 </a:t>
            </a:r>
            <a:r>
              <a:rPr lang="en-US" altLang="zh-TW" sz="1800" b="1" dirty="0"/>
              <a:t>server </a:t>
            </a:r>
            <a:r>
              <a:rPr lang="zh-TW" altLang="zh-TW" sz="1800" b="1" dirty="0"/>
              <a:t>進行微調，並自行開發數個專用 </a:t>
            </a:r>
            <a:r>
              <a:rPr lang="en-US" altLang="zh-TW" sz="1800" b="1" dirty="0"/>
              <a:t>server</a:t>
            </a:r>
            <a:r>
              <a:rPr lang="zh-TW" altLang="zh-TW" sz="1800" b="1" dirty="0"/>
              <a:t>，以擴充系統功能性與彈性</a:t>
            </a:r>
            <a:r>
              <a:rPr lang="zh-TW" altLang="zh-TW" sz="1800" dirty="0"/>
              <a:t>。所有</a:t>
            </a:r>
            <a:r>
              <a:rPr lang="zh-TW" altLang="zh-TW" sz="1800" b="1" dirty="0"/>
              <a:t>調整皆透過 </a:t>
            </a:r>
            <a:r>
              <a:rPr lang="en-US" altLang="zh-TW" sz="1800" b="1" dirty="0"/>
              <a:t>MCP </a:t>
            </a:r>
            <a:r>
              <a:rPr lang="zh-TW" altLang="zh-TW" sz="1800" b="1" dirty="0"/>
              <a:t>官方所提供之 </a:t>
            </a:r>
            <a:r>
              <a:rPr lang="en-US" altLang="zh-TW" sz="1800" b="1" dirty="0"/>
              <a:t>Inspector </a:t>
            </a:r>
            <a:r>
              <a:rPr lang="zh-TW" altLang="zh-TW" sz="1800" b="1" dirty="0"/>
              <a:t>工具進行驗證與測試</a:t>
            </a:r>
            <a:r>
              <a:rPr lang="zh-TW" altLang="zh-TW" sz="1800" dirty="0"/>
              <a:t>，確保其可被 </a:t>
            </a:r>
            <a:r>
              <a:rPr lang="en-US" altLang="zh-TW" sz="1800" dirty="0"/>
              <a:t>Cline </a:t>
            </a:r>
            <a:r>
              <a:rPr lang="zh-TW" altLang="zh-TW" sz="1800" dirty="0"/>
              <a:t>正確調用並符合整體任務流程</a:t>
            </a:r>
            <a:r>
              <a:rPr lang="zh-TW" altLang="en-US" sz="1800" dirty="0"/>
              <a:t>。</a:t>
            </a:r>
            <a:r>
              <a:rPr lang="zh-TW" altLang="zh-TW" sz="1800" dirty="0"/>
              <a:t>各 </a:t>
            </a:r>
            <a:r>
              <a:rPr lang="en-US" altLang="zh-TW" sz="1800" dirty="0"/>
              <a:t>MCP Server </a:t>
            </a:r>
            <a:r>
              <a:rPr lang="zh-TW" altLang="zh-TW" sz="1800" dirty="0"/>
              <a:t>的功能整理如</a:t>
            </a:r>
            <a:r>
              <a:rPr lang="zh-TW" altLang="en-US" sz="1800" dirty="0"/>
              <a:t>下</a:t>
            </a:r>
            <a:r>
              <a:rPr lang="zh-TW" altLang="zh-TW" sz="1800" dirty="0"/>
              <a:t>表所示</a:t>
            </a:r>
            <a:r>
              <a:rPr lang="zh-TW" altLang="en-US" sz="1800" dirty="0"/>
              <a:t>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54AF34D-71EF-CB83-B40A-5B6CCDB5D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403503"/>
              </p:ext>
            </p:extLst>
          </p:nvPr>
        </p:nvGraphicFramePr>
        <p:xfrm>
          <a:off x="2223052" y="3160785"/>
          <a:ext cx="7745896" cy="288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6292">
                  <a:extLst>
                    <a:ext uri="{9D8B030D-6E8A-4147-A177-3AD203B41FA5}">
                      <a16:colId xmlns:a16="http://schemas.microsoft.com/office/drawing/2014/main" val="2933806876"/>
                    </a:ext>
                  </a:extLst>
                </a:gridCol>
                <a:gridCol w="3231416">
                  <a:extLst>
                    <a:ext uri="{9D8B030D-6E8A-4147-A177-3AD203B41FA5}">
                      <a16:colId xmlns:a16="http://schemas.microsoft.com/office/drawing/2014/main" val="3106362003"/>
                    </a:ext>
                  </a:extLst>
                </a:gridCol>
                <a:gridCol w="1568188">
                  <a:extLst>
                    <a:ext uri="{9D8B030D-6E8A-4147-A177-3AD203B41FA5}">
                      <a16:colId xmlns:a16="http://schemas.microsoft.com/office/drawing/2014/main" val="29240535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Server </a:t>
                      </a: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功能說明</a:t>
                      </a:r>
                      <a:endParaRPr lang="zh-TW" sz="1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程式來源</a:t>
                      </a:r>
                      <a:endParaRPr lang="zh-TW" sz="1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504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File System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檔案系統管理與取用功能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MCP </a:t>
                      </a: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官方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4735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Context7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提供最新文件與程式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6984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Visualization Charts Server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圖表產生功能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Smithery.ai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095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Exa Search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網路搜尋和</a:t>
                      </a:r>
                      <a:r>
                        <a:rPr lang="zh-CN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爬蟲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6514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EPSS-MCP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查找 </a:t>
                      </a: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 </a:t>
                      </a: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資訊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GitHub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698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Find-CVE-MCP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搜尋特定</a:t>
                      </a: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Windows</a:t>
                      </a: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版本 </a:t>
                      </a: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自行開發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616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Find-PoC-MCP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搜尋開源 </a:t>
                      </a: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PoC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478380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458177D-BD65-8FB5-4E40-415DB2332CB6}"/>
              </a:ext>
            </a:extLst>
          </p:cNvPr>
          <p:cNvSpPr txBox="1"/>
          <p:nvPr/>
        </p:nvSpPr>
        <p:spPr>
          <a:xfrm>
            <a:off x="2103783" y="6040785"/>
            <a:ext cx="7964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4000" indent="-288000">
              <a:buFont typeface="Times New Roman" panose="02020603050405020304" pitchFamily="18" charset="0"/>
              <a:buChar char="※"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Find-PoC-MCP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在實際重現過程中</a:t>
            </a:r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並未開放給 </a:t>
            </a:r>
            <a:r>
              <a:rPr lang="en-US" altLang="zh-TW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AI </a:t>
            </a:r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代理使用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，主要用途為研究者統計資料的工具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C8B7D73-DA7D-039E-CA9E-F697E558D15F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FCB868F9-8F25-6925-0058-BD3A828E2328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F168B9BF-29FE-239C-1F55-27DCAE2BE01E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A8F1C51-ED96-B2CD-2D37-6268F353B189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7C7C06A-ECF7-D68E-6868-3909228565DC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0A708D6B-A13D-D368-2022-FC4E5825C50A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F0497DB9-16AF-3897-D33D-7F284A387419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04A385-DDFB-575F-5670-A30796CA9422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6799A46-20C7-5047-7201-127D0A66F4F0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BE36EFD-1DDB-04D2-9D8E-AD1EABA66548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754280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A8A9-BF03-591A-D892-2F477616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2F3870-3CDB-CE98-3F04-032302BE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方法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9DA87842-83DD-6C75-2B0A-D2965EEB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1945854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成功重現 </a:t>
            </a:r>
            <a:r>
              <a:rPr lang="en-US" altLang="zh-TW" sz="2000" dirty="0"/>
              <a:t>CVE </a:t>
            </a:r>
            <a:r>
              <a:rPr lang="zh-TW" altLang="en-US" sz="2000" dirty="0"/>
              <a:t>判斷與評估設計：</a:t>
            </a:r>
            <a:endParaRPr lang="en-US" altLang="zh-TW" sz="2000" dirty="0"/>
          </a:p>
          <a:p>
            <a:pPr marL="825750" lvl="1" indent="-28575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b="1" dirty="0"/>
              <a:t>PoC </a:t>
            </a:r>
            <a:r>
              <a:rPr lang="zh-TW" altLang="en-US" sz="1800" b="1" dirty="0"/>
              <a:t>可執行性</a:t>
            </a:r>
            <a:r>
              <a:rPr lang="zh-TW" altLang="en-US" sz="1800" dirty="0"/>
              <a:t>：由 </a:t>
            </a:r>
            <a:r>
              <a:rPr lang="en-US" altLang="zh-TW" sz="1800" dirty="0"/>
              <a:t>LLM </a:t>
            </a:r>
            <a:r>
              <a:rPr lang="zh-TW" altLang="en-US" sz="1800" dirty="0"/>
              <a:t>生成或取得的 </a:t>
            </a:r>
            <a:r>
              <a:rPr lang="en-US" altLang="zh-TW" sz="1800" dirty="0"/>
              <a:t>PoC </a:t>
            </a:r>
            <a:r>
              <a:rPr lang="zh-TW" altLang="en-US" sz="1800" dirty="0"/>
              <a:t>程式碼能在虛擬機內順利編譯執行；且結果能引發與該 </a:t>
            </a:r>
            <a:r>
              <a:rPr lang="en-US" altLang="zh-TW" sz="1800" dirty="0"/>
              <a:t>CVE </a:t>
            </a:r>
            <a:r>
              <a:rPr lang="zh-TW" altLang="en-US" sz="1800" dirty="0"/>
              <a:t>描述相符的現象，例如系統錯誤訊息、程式崩潰、權限異常等</a:t>
            </a:r>
            <a:endParaRPr lang="en-US" altLang="zh-TW" sz="1800" dirty="0"/>
          </a:p>
          <a:p>
            <a:pPr marL="825750" lvl="1" indent="-28575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b="1" dirty="0"/>
              <a:t>流程完整性</a:t>
            </a:r>
            <a:r>
              <a:rPr lang="zh-TW" altLang="en-US" sz="1800" dirty="0"/>
              <a:t>：即使未觸發漏洞，只要 </a:t>
            </a:r>
            <a:r>
              <a:rPr lang="en-US" altLang="zh-TW" sz="1800" dirty="0"/>
              <a:t>LLM </a:t>
            </a:r>
            <a:r>
              <a:rPr lang="zh-TW" altLang="en-US" sz="1800" dirty="0"/>
              <a:t>能正確產生具體的重現步驟與程式碼，即視為達到最低限度的完成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700119-FC13-5958-5259-D48CCB7B1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90240"/>
              </p:ext>
            </p:extLst>
          </p:nvPr>
        </p:nvGraphicFramePr>
        <p:xfrm>
          <a:off x="3395870" y="3545047"/>
          <a:ext cx="5400260" cy="2099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5509">
                  <a:extLst>
                    <a:ext uri="{9D8B030D-6E8A-4147-A177-3AD203B41FA5}">
                      <a16:colId xmlns:a16="http://schemas.microsoft.com/office/drawing/2014/main" val="2933806876"/>
                    </a:ext>
                  </a:extLst>
                </a:gridCol>
                <a:gridCol w="2824751">
                  <a:extLst>
                    <a:ext uri="{9D8B030D-6E8A-4147-A177-3AD203B41FA5}">
                      <a16:colId xmlns:a16="http://schemas.microsoft.com/office/drawing/2014/main" val="3106362003"/>
                    </a:ext>
                  </a:extLst>
                </a:gridCol>
              </a:tblGrid>
              <a:tr h="52485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altLang="en-US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滿足條件</a:t>
                      </a:r>
                      <a:endParaRPr lang="zh-TW" sz="1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altLang="en-US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評估結果</a:t>
                      </a:r>
                      <a:endParaRPr lang="zh-TW" sz="1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50447"/>
                  </a:ext>
                </a:extLst>
              </a:tr>
              <a:tr h="52485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TW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PoC </a:t>
                      </a:r>
                      <a:r>
                        <a:rPr lang="zh-TW" altLang="en-US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可執行性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alt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重現成功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473525"/>
                  </a:ext>
                </a:extLst>
              </a:tr>
              <a:tr h="52485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altLang="en-US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流程完整性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alt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部分重現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698494"/>
                  </a:ext>
                </a:extLst>
              </a:tr>
              <a:tr h="524854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alt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兩項皆不滿足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TW" alt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重現失敗</a:t>
                      </a:r>
                      <a:endParaRPr lang="zh-TW" sz="1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09524"/>
                  </a:ext>
                </a:extLst>
              </a:tr>
            </a:tbl>
          </a:graphicData>
        </a:graphic>
      </p:graphicFrame>
      <p:grpSp>
        <p:nvGrpSpPr>
          <p:cNvPr id="4" name="群組 3">
            <a:extLst>
              <a:ext uri="{FF2B5EF4-FFF2-40B4-BE49-F238E27FC236}">
                <a16:creationId xmlns:a16="http://schemas.microsoft.com/office/drawing/2014/main" id="{1AD0994D-FB2B-A53E-17BD-86A5711AC0CD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D720DF31-B02F-ED4A-D365-B737D8051F3F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C97AD3A3-EA15-B4BB-4586-06F095B08AB3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75817B7-3586-E414-1BC5-E52230D93CCE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B2A58693-B159-9577-CD41-57AAE970B130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24337916-8B55-DC5F-383B-F513131AE7A8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A1395E19-AA0F-7709-1B23-83AC8A80FE83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28FDB14-9518-44BA-8541-C110C8008A69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254D2C7-B426-58A0-4D3C-8EB5C5959A9A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D74E960-E37A-EFC5-CF5F-9B1E2AEEA039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2983593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9206-26A0-ECD8-1D07-32B0A03A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570B4F-18A5-B1EA-4339-E108C3D7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484A1340-DD48-F5FB-1290-EDF8CE32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6" y="1142516"/>
            <a:ext cx="10165934" cy="4485010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實驗環境：</a:t>
            </a:r>
            <a:endParaRPr lang="en-US" altLang="zh-TW" sz="20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zh-TW" sz="1800" dirty="0"/>
              <a:t>建置於</a:t>
            </a:r>
            <a:r>
              <a:rPr lang="en-US" altLang="zh-TW" sz="1800" b="1" dirty="0"/>
              <a:t> Windows 10 (10.0.19045.5440) 64 </a:t>
            </a:r>
            <a:r>
              <a:rPr lang="zh-TW" altLang="zh-TW" sz="1800" b="1" dirty="0"/>
              <a:t>位元虛擬機</a:t>
            </a:r>
            <a:r>
              <a:rPr lang="zh-TW" altLang="en-US" sz="1800" b="1" dirty="0"/>
              <a:t>，唯一可以聯網的只有 </a:t>
            </a:r>
            <a:r>
              <a:rPr lang="en-US" altLang="zh-TW" sz="1800" b="1" dirty="0"/>
              <a:t>MCP Server</a:t>
            </a:r>
            <a:r>
              <a:rPr lang="zh-TW" altLang="zh-TW" sz="1800" dirty="0"/>
              <a:t>，並安裝完整的開發工具鏈，以支援</a:t>
            </a:r>
            <a:r>
              <a:rPr lang="en-US" altLang="zh-TW" sz="1800" dirty="0"/>
              <a:t> CVE </a:t>
            </a:r>
            <a:r>
              <a:rPr lang="zh-TW" altLang="zh-TW" sz="1800" dirty="0"/>
              <a:t>自動化重現的流程</a:t>
            </a:r>
            <a:endParaRPr lang="en-US" altLang="zh-TW" sz="18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zh-TW" sz="1800" dirty="0"/>
              <a:t>開發</a:t>
            </a:r>
            <a:r>
              <a:rPr lang="zh-TW" altLang="en-US" sz="1800" dirty="0"/>
              <a:t>環境包含以下應用程式</a:t>
            </a:r>
            <a:r>
              <a:rPr lang="zh-TW" altLang="zh-TW" sz="1800" dirty="0"/>
              <a:t>，</a:t>
            </a:r>
            <a:r>
              <a:rPr lang="zh-TW" altLang="en-US" sz="1800" dirty="0"/>
              <a:t>以</a:t>
            </a:r>
            <a:r>
              <a:rPr lang="zh-TW" altLang="zh-TW" sz="1800" dirty="0"/>
              <a:t>確保程式撰寫、版本管理與編譯執行皆能順利完成</a:t>
            </a:r>
            <a:r>
              <a:rPr lang="zh-TW" altLang="en-US" sz="1800" dirty="0"/>
              <a:t>：</a:t>
            </a:r>
            <a:endParaRPr lang="en-US" altLang="zh-TW" sz="1800" dirty="0"/>
          </a:p>
          <a:p>
            <a:pPr marL="1188000" lvl="2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dirty="0"/>
              <a:t>Visual Studio Code </a:t>
            </a:r>
            <a:r>
              <a:rPr lang="zh-TW" altLang="zh-TW" dirty="0"/>
              <a:t>與其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Cline </a:t>
            </a:r>
            <a:r>
              <a:rPr lang="zh-TW" altLang="zh-TW" dirty="0">
                <a:solidFill>
                  <a:srgbClr val="C00000"/>
                </a:solidFill>
              </a:rPr>
              <a:t>套件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/>
              <a:t>(</a:t>
            </a:r>
            <a:r>
              <a:rPr lang="zh-TW" altLang="zh-TW" dirty="0"/>
              <a:t>版本</a:t>
            </a:r>
            <a:r>
              <a:rPr lang="en-US" altLang="zh-TW" dirty="0"/>
              <a:t> 3.26.5)</a:t>
            </a:r>
          </a:p>
          <a:p>
            <a:pPr marL="1188000" lvl="2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dirty="0"/>
              <a:t>Python 3.13.0</a:t>
            </a:r>
          </a:p>
          <a:p>
            <a:pPr marL="1188000" lvl="2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dirty="0"/>
              <a:t>Git 2.50.1</a:t>
            </a:r>
          </a:p>
          <a:p>
            <a:pPr marL="1188000" lvl="2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dirty="0"/>
              <a:t>Node.js 22.17.1</a:t>
            </a:r>
          </a:p>
          <a:p>
            <a:pPr marL="1188000" lvl="2" indent="-252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dirty="0"/>
              <a:t>MinGW-w64 </a:t>
            </a:r>
            <a:r>
              <a:rPr lang="zh-TW" altLang="zh-TW" dirty="0"/>
              <a:t>編譯器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zh-TW" sz="1800" dirty="0"/>
              <a:t>為模擬實際攻擊情境中常見的防護繞過條件，</a:t>
            </a:r>
            <a:r>
              <a:rPr lang="zh-TW" altLang="zh-TW" sz="1800" b="1" dirty="0"/>
              <a:t>實驗期間已預先停用 </a:t>
            </a:r>
            <a:r>
              <a:rPr lang="en-US" altLang="zh-TW" sz="1800" b="1" dirty="0"/>
              <a:t>Windows Defender </a:t>
            </a:r>
            <a:r>
              <a:rPr lang="zh-TW" altLang="zh-TW" sz="1800" b="1" dirty="0"/>
              <a:t>防護機制</a:t>
            </a:r>
            <a:r>
              <a:rPr lang="zh-TW" altLang="zh-TW" sz="1800" dirty="0"/>
              <a:t>，以避免干擾漏洞觸發與 </a:t>
            </a:r>
            <a:r>
              <a:rPr lang="en-US" altLang="zh-TW" sz="1800" dirty="0"/>
              <a:t>exploit </a:t>
            </a:r>
            <a:r>
              <a:rPr lang="zh-TW" altLang="zh-TW" sz="1800" dirty="0"/>
              <a:t>行為之觀察與驗證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CDB560D-A577-4EF0-B90D-E227A17696FB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AC0BC79B-83FD-F680-6AFF-8A925A6BE06C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07B1A95C-B9C3-8613-9581-E58D1811AF4E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9798EE0-7FFF-9AB3-993A-E3C2BA7C7FBE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2ECA8DB-09F6-4CA6-54D7-2342812BFEAE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14BA1BA5-507A-65A9-A4A7-099DC6F0A082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9326A974-AB41-5DE3-1A0A-1771BE27AFCC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09E2C09-1E5B-8904-8E02-FB6AE0D9F553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61C31C1-04A7-1081-8C9F-998F6C2F9ACD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FADF394-F990-8B8C-DEDE-4EA77923F313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3229380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BB883-0293-D635-5F3B-A59BE016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BE37AD-A633-A33E-2DDB-44A3E84A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DDE2F3D6-0471-0631-54F1-7B8AF7086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10165934" cy="4343368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Case Study</a:t>
            </a:r>
            <a:r>
              <a:rPr lang="zh-TW" altLang="en-US" sz="2000" dirty="0"/>
              <a:t>：</a:t>
            </a:r>
            <a:endParaRPr lang="en-US" altLang="zh-TW" sz="20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由於 </a:t>
            </a:r>
            <a:r>
              <a:rPr lang="en-US" altLang="zh-TW" sz="1800" dirty="0"/>
              <a:t>Windows </a:t>
            </a:r>
            <a:r>
              <a:rPr lang="zh-TW" altLang="en-US" sz="1800" dirty="0"/>
              <a:t>系統漏洞眾多，若無具體參考資訊，將無法確認 </a:t>
            </a:r>
            <a:r>
              <a:rPr lang="en-US" altLang="zh-TW" sz="1800" dirty="0"/>
              <a:t>CVE </a:t>
            </a:r>
            <a:r>
              <a:rPr lang="zh-TW" altLang="en-US" sz="1800" dirty="0"/>
              <a:t>是否能在環境中被觸發。因此，</a:t>
            </a:r>
            <a:r>
              <a:rPr lang="zh-TW" altLang="en-US" sz="1800" b="1" dirty="0"/>
              <a:t>本研究挑選具備公開 </a:t>
            </a:r>
            <a:r>
              <a:rPr lang="en-US" altLang="zh-TW" sz="1800" b="1" dirty="0"/>
              <a:t>PoC </a:t>
            </a:r>
            <a:r>
              <a:rPr lang="zh-TW" altLang="en-US" sz="1800" b="1" dirty="0"/>
              <a:t>的項目，以提升效率與成功率</a:t>
            </a:r>
            <a:endParaRPr lang="en-US" altLang="zh-TW" sz="1800" b="1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依據以下三項規則進行過濾、檢查：</a:t>
            </a:r>
            <a:endParaRPr lang="en-US" altLang="zh-TW" sz="1800" dirty="0"/>
          </a:p>
          <a:p>
            <a:pPr marL="1188000" lvl="2" indent="-288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800" b="1" dirty="0"/>
              <a:t>版本相符性</a:t>
            </a:r>
            <a:r>
              <a:rPr lang="zh-TW" altLang="en-US" sz="1800" dirty="0"/>
              <a:t>：僅挑選影響 </a:t>
            </a:r>
            <a:r>
              <a:rPr lang="en-US" altLang="zh-TW" sz="1800" dirty="0"/>
              <a:t>Windows 10 Build Version 10.0.19045.5440</a:t>
            </a:r>
            <a:r>
              <a:rPr lang="zh-TW" altLang="en-US" sz="1800" dirty="0"/>
              <a:t>，且至少具備一份公開 </a:t>
            </a:r>
            <a:r>
              <a:rPr lang="en-US" altLang="zh-TW" sz="1800" dirty="0"/>
              <a:t>PoC </a:t>
            </a:r>
            <a:r>
              <a:rPr lang="zh-TW" altLang="en-US" sz="1800" dirty="0"/>
              <a:t>的漏洞</a:t>
            </a:r>
            <a:endParaRPr lang="en-US" altLang="zh-TW" sz="1800" dirty="0"/>
          </a:p>
          <a:p>
            <a:pPr marL="1188000" lvl="2" indent="-288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800" b="1" dirty="0"/>
              <a:t>可獨立執行性</a:t>
            </a:r>
            <a:r>
              <a:rPr lang="zh-TW" altLang="en-US" sz="1800" dirty="0"/>
              <a:t>：優先選擇可於單一裝置本地執行，以利在隔離環境下進行完整重現</a:t>
            </a:r>
            <a:endParaRPr lang="en-US" altLang="zh-TW" sz="1800" dirty="0"/>
          </a:p>
          <a:p>
            <a:pPr marL="1188000" lvl="2" indent="-2880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800" b="1" dirty="0"/>
              <a:t>真實可用性</a:t>
            </a:r>
            <a:r>
              <a:rPr lang="zh-TW" altLang="en-US" sz="1800" dirty="0"/>
              <a:t>：人工審查每個 </a:t>
            </a:r>
            <a:r>
              <a:rPr lang="en-US" altLang="zh-TW" sz="1800" dirty="0"/>
              <a:t>PoC</a:t>
            </a:r>
            <a:r>
              <a:rPr lang="zh-TW" altLang="en-US" sz="1800" dirty="0"/>
              <a:t>，僅納入具備 </a:t>
            </a:r>
            <a:r>
              <a:rPr lang="en-US" altLang="zh-TW" sz="1800" dirty="0"/>
              <a:t>exploit</a:t>
            </a:r>
            <a:r>
              <a:rPr lang="zh-TW" altLang="en-US" sz="1800" dirty="0"/>
              <a:t> 潛力的程式；若 </a:t>
            </a:r>
            <a:r>
              <a:rPr lang="en-US" altLang="zh-TW" sz="1800" dirty="0"/>
              <a:t>GitHub</a:t>
            </a:r>
            <a:r>
              <a:rPr lang="zh-TW" altLang="en-US" sz="1800" dirty="0"/>
              <a:t> 上存放的 </a:t>
            </a:r>
            <a:r>
              <a:rPr lang="en-US" altLang="zh-TW" sz="1800" dirty="0"/>
              <a:t>PoC </a:t>
            </a:r>
            <a:r>
              <a:rPr lang="zh-TW" altLang="en-US" sz="1800" dirty="0"/>
              <a:t>實際為漏洞掃描器、分析腳本或 </a:t>
            </a:r>
            <a:r>
              <a:rPr lang="en-US" altLang="zh-TW" sz="1800" dirty="0"/>
              <a:t>patch</a:t>
            </a:r>
            <a:r>
              <a:rPr lang="zh-TW" altLang="en-US" sz="1800" dirty="0"/>
              <a:t> 測試程式則排除，避免干擾結果判讀</a:t>
            </a:r>
            <a:endParaRPr lang="en-US" altLang="zh-TW" sz="1800" dirty="0"/>
          </a:p>
          <a:p>
            <a:pPr marL="785700" lvl="1" indent="-3429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dirty="0">
                <a:highlight>
                  <a:srgbClr val="FFFF00"/>
                </a:highlight>
              </a:rPr>
              <a:t>本研究最終從 </a:t>
            </a:r>
            <a:r>
              <a:rPr lang="en-US" altLang="zh-TW" dirty="0">
                <a:highlight>
                  <a:srgbClr val="FFFF00"/>
                </a:highlight>
              </a:rPr>
              <a:t>17 </a:t>
            </a:r>
            <a:r>
              <a:rPr lang="zh-TW" altLang="en-US" dirty="0">
                <a:highlight>
                  <a:srgbClr val="FFFF00"/>
                </a:highlight>
              </a:rPr>
              <a:t>個具公開 </a:t>
            </a:r>
            <a:r>
              <a:rPr lang="en-US" altLang="zh-TW" dirty="0">
                <a:highlight>
                  <a:srgbClr val="FFFF00"/>
                </a:highlight>
              </a:rPr>
              <a:t>PoC </a:t>
            </a:r>
            <a:r>
              <a:rPr lang="zh-TW" altLang="en-US" dirty="0">
                <a:highlight>
                  <a:srgbClr val="FFFF00"/>
                </a:highlight>
              </a:rPr>
              <a:t>的 </a:t>
            </a:r>
            <a:r>
              <a:rPr lang="en-US" altLang="zh-TW" dirty="0">
                <a:highlight>
                  <a:srgbClr val="FFFF00"/>
                </a:highlight>
              </a:rPr>
              <a:t>CVE </a:t>
            </a:r>
            <a:r>
              <a:rPr lang="zh-TW" altLang="en-US" dirty="0">
                <a:highlight>
                  <a:srgbClr val="FFFF00"/>
                </a:highlight>
              </a:rPr>
              <a:t>中，人工挑選出 </a:t>
            </a:r>
            <a:r>
              <a:rPr lang="en-US" altLang="zh-TW" dirty="0">
                <a:highlight>
                  <a:srgbClr val="FFFF00"/>
                </a:highlight>
              </a:rPr>
              <a:t>5 </a:t>
            </a:r>
            <a:r>
              <a:rPr lang="zh-TW" altLang="en-US" dirty="0">
                <a:highlight>
                  <a:srgbClr val="FFFF00"/>
                </a:highlight>
              </a:rPr>
              <a:t>個最具代表性且具備重現潛力的案例</a:t>
            </a:r>
            <a:endParaRPr lang="zh-TW" altLang="en-US" sz="1800" dirty="0">
              <a:highlight>
                <a:srgbClr val="FFFF00"/>
              </a:highlight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2BF976E-2FF6-BEAA-F59F-F2AA6AA8E6FE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CC896D3C-8823-7B3F-1DD3-0448B6AA07AD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78DBB11F-89BA-5C99-C37B-0AD23C17316E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638FEC1-22FC-62AE-CD18-03638D6A7F94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69E3CB69-0127-C73C-0D73-0B7E9FA7EC62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F33624D7-707E-8956-132A-A2D59A039A23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46C5AEC6-0752-CDDE-5746-8BB05591DA65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148FF40-146E-9042-FD26-4E34B1984985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F02AA67-1198-725A-7BC7-70895D8156F8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0B701C5-E734-E9B4-5F1F-541F4405335D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3602635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497B-6FE9-9DD5-4653-9372F4CE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17852F-6403-5C11-8A33-D2373CF8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F43D56A-9C5C-6AC9-C51A-C372E76471AD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139137FD-9B57-5900-587B-1B27189EA82E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3C36C342-EC2C-EEC1-32CC-D859966897AC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6CAEF39-0A40-F41B-8DF7-EB39C5489267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E439857-5987-4670-3253-0E881BD8E549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A45264BE-712C-C48A-9A97-92BB4DB58BD5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9387BDF5-F8DD-7C77-3CCC-7CEB5B0FCB5D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96750A8-105B-CC05-DCAD-ABD1C771B6A9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00E9136-A77A-13DD-D69B-1F359F552D49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D8F15658-7FDE-118C-56E7-30CD622CAEE4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sp>
        <p:nvSpPr>
          <p:cNvPr id="20" name="內容版面配置區 8">
            <a:extLst>
              <a:ext uri="{FF2B5EF4-FFF2-40B4-BE49-F238E27FC236}">
                <a16:creationId xmlns:a16="http://schemas.microsoft.com/office/drawing/2014/main" id="{CC6BA380-BACC-1DD1-770A-86B752ABA0FE}"/>
              </a:ext>
            </a:extLst>
          </p:cNvPr>
          <p:cNvSpPr txBox="1">
            <a:spLocks/>
          </p:cNvSpPr>
          <p:nvPr/>
        </p:nvSpPr>
        <p:spPr>
          <a:xfrm>
            <a:off x="1187865" y="1142516"/>
            <a:ext cx="10165934" cy="83016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Case Study</a:t>
            </a:r>
            <a:r>
              <a:rPr lang="zh-TW" altLang="en-US" sz="2000" dirty="0"/>
              <a:t>：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en-US" altLang="zh-TW" sz="1800" dirty="0">
                <a:solidFill>
                  <a:srgbClr val="C00000"/>
                </a:solidFill>
              </a:rPr>
              <a:t>CVE-2025-21420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zh-TW" altLang="en-US" sz="1800" dirty="0"/>
              <a:t>案例分析如下：</a:t>
            </a:r>
            <a:endParaRPr lang="en-US" altLang="zh-TW" sz="18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CE8ECF4-CD94-5CAC-1E24-412E8CF84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996362"/>
              </p:ext>
            </p:extLst>
          </p:nvPr>
        </p:nvGraphicFramePr>
        <p:xfrm>
          <a:off x="842930" y="2123622"/>
          <a:ext cx="10506140" cy="353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3070">
                  <a:extLst>
                    <a:ext uri="{9D8B030D-6E8A-4147-A177-3AD203B41FA5}">
                      <a16:colId xmlns:a16="http://schemas.microsoft.com/office/drawing/2014/main" val="3103004704"/>
                    </a:ext>
                  </a:extLst>
                </a:gridCol>
                <a:gridCol w="5253070">
                  <a:extLst>
                    <a:ext uri="{9D8B030D-6E8A-4147-A177-3AD203B41FA5}">
                      <a16:colId xmlns:a16="http://schemas.microsoft.com/office/drawing/2014/main" val="3813949806"/>
                    </a:ext>
                  </a:extLst>
                </a:gridCol>
              </a:tblGrid>
              <a:tr h="350401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簡介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失敗原因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57017"/>
                  </a:ext>
                </a:extLst>
              </a:tr>
              <a:tr h="3144335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漏洞類型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DLL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側載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(side-loading)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本地提權漏洞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影響元件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cleanmgr.exe (Windows Disk Cleanup Tool) </a:t>
                      </a: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利用</a:t>
                      </a:r>
                      <a:r>
                        <a:rPr lang="zh-TW" altLang="zh-TW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原理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當使用者或系統觸發時，該程式會以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SYSTEM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權限執行，並載入多個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DLL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。然而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</a:t>
                      </a:r>
                      <a:r>
                        <a:rPr lang="zh-TW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由於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cleanmgr.exe </a:t>
                      </a:r>
                      <a:r>
                        <a:rPr lang="zh-TW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在設計上未明確指定所載入 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DLL </a:t>
                      </a:r>
                      <a:r>
                        <a:rPr lang="zh-TW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的路徑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。攻擊者可利用系統的預設搜尋順序，藉由符號連結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(Symbolic Link)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將惡意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DLL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放置於使可寫入目錄中。一旦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cleanmgr.exe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誤載此惡意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DLL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，即可讓惡意程式碼以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SYSTEM 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權限執行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實驗因</a:t>
                      </a:r>
                      <a:r>
                        <a:rPr lang="zh-TW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權限問題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而失敗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由於</a:t>
                      </a:r>
                      <a:r>
                        <a:rPr lang="zh-TW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建立符號連結本身就需要管理員權限，這與低權限攻擊的情境相悖</a:t>
                      </a:r>
                      <a:r>
                        <a:rPr lang="zh-TW" altLang="zh-TW" sz="160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，導致流程在初期便中斷</a:t>
                      </a:r>
                      <a:endParaRPr lang="en-US" altLang="zh-TW" sz="160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即使</a:t>
                      </a:r>
                      <a:r>
                        <a:rPr lang="zh-TW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以人工方式進行相同操作也未能成功觸發惡意 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DLL </a:t>
                      </a:r>
                      <a:r>
                        <a:rPr lang="zh-TW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的載入</a:t>
                      </a:r>
                      <a:r>
                        <a:rPr lang="zh-TW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，最終僅顯示「權限不足」或「找不到路徑」等錯誤訊息，未能達成完整的提權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59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275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9A64-257F-3D0D-DD5A-0C6CD19B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8E16DF-3E1E-C14C-C003-6E689DA9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83A5FDAC-497C-8699-E050-016D17A48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10165934" cy="830164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Case Study</a:t>
            </a:r>
            <a:r>
              <a:rPr lang="zh-TW" altLang="en-US" sz="2000" dirty="0"/>
              <a:t>：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en-US" altLang="zh-TW" sz="1800" dirty="0">
                <a:solidFill>
                  <a:srgbClr val="C00000"/>
                </a:solidFill>
              </a:rPr>
              <a:t>CVE-2025-26633</a:t>
            </a:r>
            <a:r>
              <a:rPr lang="en-US" altLang="zh-TW" sz="1800" dirty="0"/>
              <a:t> </a:t>
            </a:r>
            <a:r>
              <a:rPr lang="zh-TW" altLang="en-US" sz="1800" dirty="0"/>
              <a:t>案例分析如下：</a:t>
            </a:r>
            <a:endParaRPr lang="en-US" altLang="zh-TW" sz="18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E509A7B-FDA1-D1F2-1B30-4BC754540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742814"/>
              </p:ext>
            </p:extLst>
          </p:nvPr>
        </p:nvGraphicFramePr>
        <p:xfrm>
          <a:off x="842930" y="2123623"/>
          <a:ext cx="10506140" cy="353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3070">
                  <a:extLst>
                    <a:ext uri="{9D8B030D-6E8A-4147-A177-3AD203B41FA5}">
                      <a16:colId xmlns:a16="http://schemas.microsoft.com/office/drawing/2014/main" val="3103004704"/>
                    </a:ext>
                  </a:extLst>
                </a:gridCol>
                <a:gridCol w="5253070">
                  <a:extLst>
                    <a:ext uri="{9D8B030D-6E8A-4147-A177-3AD203B41FA5}">
                      <a16:colId xmlns:a16="http://schemas.microsoft.com/office/drawing/2014/main" val="3813949806"/>
                    </a:ext>
                  </a:extLst>
                </a:gridCol>
              </a:tblGrid>
              <a:tr h="350401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簡介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失敗原因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57017"/>
                  </a:ext>
                </a:extLst>
              </a:tr>
              <a:tr h="3144335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漏洞類型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：安全功能繞過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(Security Feature Bypass, SFB)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漏洞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影響元件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：微軟管理控制台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(Microsoft Management Console, MMC)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內的國際化路徑機制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lang="en-US" altLang="zh-TW" sz="160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MUIPath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)</a:t>
                      </a: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利用原理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：攻擊者可以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將惡意 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.</a:t>
                      </a:r>
                      <a:r>
                        <a:rPr lang="en-US" altLang="zh-TW" sz="1600" kern="1200" baseline="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msc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檔案放置於 </a:t>
                      </a:r>
                      <a:r>
                        <a:rPr lang="en-US" altLang="zh-TW" sz="1600" kern="1200" baseline="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en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-US 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目錄，使 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MMC 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優先載入該檔案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，取代原本的合法版本。攻擊者可在這個惡意的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.</a:t>
                      </a:r>
                      <a:r>
                        <a:rPr lang="en-US" altLang="zh-TW" sz="160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msc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檔案內嵌入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PowerShell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指令或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ActiveX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控制項等元素，達到遠端命令執行或下載惡意酬載等目的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本次漏洞重現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因建立的 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.</a:t>
                      </a:r>
                      <a:r>
                        <a:rPr lang="en-US" altLang="zh-TW" sz="1600" kern="1200" baseline="0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msc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檔案格式錯誤而失敗</a:t>
                      </a:r>
                      <a:endParaRPr lang="en-US" altLang="zh-TW" sz="1600" kern="1200" baseline="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MMC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主控台檔案採用的是複合結構化儲存檔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(Compound Structured Storage File)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，而非單純的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XML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檔案，導致自製檔案被拒絕開啟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研究亦發現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環境變數 </a:t>
                      </a:r>
                      <a:r>
                        <a:rPr lang="en-US" altLang="zh-TW" sz="1600" kern="1200" baseline="0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MUILanguage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僅影響介面語言，與 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.</a:t>
                      </a:r>
                      <a:r>
                        <a:rPr lang="en-US" altLang="zh-TW" sz="1600" kern="1200" baseline="0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msc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的載入流程無關</a:t>
                      </a:r>
                      <a:endParaRPr lang="en-US" altLang="zh-TW" sz="1600" kern="1200" baseline="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此漏洞觸發的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關鍵在於主控台的內部結構與資源載入行為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，並非單純在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.</a:t>
                      </a:r>
                      <a:r>
                        <a:rPr lang="en-US" altLang="zh-TW" sz="1600" kern="1200" baseline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msc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檔案中插入腳本觸發，因此未能達到預期的效果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59474"/>
                  </a:ext>
                </a:extLst>
              </a:tr>
            </a:tbl>
          </a:graphicData>
        </a:graphic>
      </p:graphicFrame>
      <p:grpSp>
        <p:nvGrpSpPr>
          <p:cNvPr id="4" name="群組 3">
            <a:extLst>
              <a:ext uri="{FF2B5EF4-FFF2-40B4-BE49-F238E27FC236}">
                <a16:creationId xmlns:a16="http://schemas.microsoft.com/office/drawing/2014/main" id="{860F3E6C-E7EA-7219-2495-83F71942D7FF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9E0EBBFD-E429-FB01-C791-39A2E25108AC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F04886A3-9102-7D59-BF04-5BCB72D5FDAB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AC1889-35CA-4493-CBB3-DED394BBBF6D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85598933-4D8C-7367-9102-E00568330D34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575CE691-4FCC-6744-6793-50542C18B379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FFDF4B7E-C6BA-932D-E76A-657323118AE2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7B9B35E-7EA7-62D1-98FA-8BDEA0FEC3FA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598A921-5730-DDB1-A883-247526CFB5B6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25C9CC0-FE7A-4CDD-32F3-6CE211FD0A2C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2612891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7DB43-B914-F287-C7DE-B6F5DBC1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2C9295-D337-963B-19E3-D949705E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37D29CA5-D74B-E749-D3B7-F1772F7B8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10165934" cy="830164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Case Study</a:t>
            </a:r>
            <a:r>
              <a:rPr lang="zh-TW" altLang="en-US" sz="2000" dirty="0"/>
              <a:t>：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en-US" altLang="zh-TW" sz="1800" dirty="0">
                <a:solidFill>
                  <a:srgbClr val="C00000"/>
                </a:solidFill>
              </a:rPr>
              <a:t>CVE-2025-29824</a:t>
            </a:r>
            <a:r>
              <a:rPr lang="zh-TW" altLang="en-US" sz="1800" dirty="0"/>
              <a:t> 案例分析如下：</a:t>
            </a:r>
            <a:endParaRPr lang="en-US" altLang="zh-TW" sz="18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7DD7F9-71D4-B050-44E9-5E5DB90F3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324945"/>
              </p:ext>
            </p:extLst>
          </p:nvPr>
        </p:nvGraphicFramePr>
        <p:xfrm>
          <a:off x="842930" y="2123622"/>
          <a:ext cx="10506140" cy="3020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3070">
                  <a:extLst>
                    <a:ext uri="{9D8B030D-6E8A-4147-A177-3AD203B41FA5}">
                      <a16:colId xmlns:a16="http://schemas.microsoft.com/office/drawing/2014/main" val="3103004704"/>
                    </a:ext>
                  </a:extLst>
                </a:gridCol>
                <a:gridCol w="5253070">
                  <a:extLst>
                    <a:ext uri="{9D8B030D-6E8A-4147-A177-3AD203B41FA5}">
                      <a16:colId xmlns:a16="http://schemas.microsoft.com/office/drawing/2014/main" val="3813949806"/>
                    </a:ext>
                  </a:extLst>
                </a:gridCol>
              </a:tblGrid>
              <a:tr h="361671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簡介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失敗原因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57017"/>
                  </a:ext>
                </a:extLst>
              </a:tr>
              <a:tr h="2633359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漏洞類型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：本地提權漏洞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影響元件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Windows CLFS (Common Log File System)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核心驅動的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Use-After-Free </a:t>
                      </a: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利用原理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攻擊者在觸發漏洞後，可覆寫目標程序的存取權杖 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(access token)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，從而取得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SYSTEM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等級最高權限，進而轉儲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LSASS (Local Security Authority Subsystem Service)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程序的記憶體竊取使用者憑證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本次重現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exploit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程式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未能正確開啟一個已啟用 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CLFS 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功能的有效路徑而失敗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，這導致核心中關鍵的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Use-After-Free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觸發點未能生效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59474"/>
                  </a:ext>
                </a:extLst>
              </a:tr>
            </a:tbl>
          </a:graphicData>
        </a:graphic>
      </p:graphicFrame>
      <p:grpSp>
        <p:nvGrpSpPr>
          <p:cNvPr id="4" name="群組 3">
            <a:extLst>
              <a:ext uri="{FF2B5EF4-FFF2-40B4-BE49-F238E27FC236}">
                <a16:creationId xmlns:a16="http://schemas.microsoft.com/office/drawing/2014/main" id="{C285660A-EAAA-6544-F16A-33DC87314E6D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B26B0D43-0637-D9A6-7BEB-948BB1277710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D9FBC887-94A8-623C-D9CB-E146DD6E8DAB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847CDEB-F57D-0FE0-37B5-92DDB42696EB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025F15-1048-2593-6CB7-2A0DD237CFC1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F968968-8D8B-F5E9-759F-B7EBE65ABD3B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0562C128-498A-8694-4766-F0ADAAE25039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64C837E-6ABF-BDC7-2436-CDF60F154631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01442A4-6819-2879-951E-782AD2BD09EB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2DC3114-C9E0-1728-6142-58C729749E1F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1471924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7B2E-3DBD-9378-782C-FE48136A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A39CE-C91C-7AEB-3174-CDFE369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6D764AD6-B558-8B11-0FE5-C1A8D693C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10165934" cy="830164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Case Study</a:t>
            </a:r>
            <a:r>
              <a:rPr lang="zh-TW" altLang="en-US" sz="2000" dirty="0"/>
              <a:t>：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en-US" altLang="zh-TW" sz="1800" dirty="0">
                <a:solidFill>
                  <a:srgbClr val="C00000"/>
                </a:solidFill>
              </a:rPr>
              <a:t>CVE-2025-49667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zh-TW" altLang="en-US" sz="1800" dirty="0"/>
              <a:t>案例分析如下：</a:t>
            </a:r>
            <a:endParaRPr lang="en-US" altLang="zh-TW" sz="18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7423D92-E0F4-CD67-053C-8F6B5F6EC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600067"/>
              </p:ext>
            </p:extLst>
          </p:nvPr>
        </p:nvGraphicFramePr>
        <p:xfrm>
          <a:off x="842930" y="2123622"/>
          <a:ext cx="10506140" cy="2678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3070">
                  <a:extLst>
                    <a:ext uri="{9D8B030D-6E8A-4147-A177-3AD203B41FA5}">
                      <a16:colId xmlns:a16="http://schemas.microsoft.com/office/drawing/2014/main" val="3103004704"/>
                    </a:ext>
                  </a:extLst>
                </a:gridCol>
                <a:gridCol w="5253070">
                  <a:extLst>
                    <a:ext uri="{9D8B030D-6E8A-4147-A177-3AD203B41FA5}">
                      <a16:colId xmlns:a16="http://schemas.microsoft.com/office/drawing/2014/main" val="3813949806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簡介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lang="zh-TW" altLang="en-US" sz="1600" b="1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失敗原因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57017"/>
                  </a:ext>
                </a:extLst>
              </a:tr>
              <a:tr h="2291446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漏洞類型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：本地提權漏洞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影響元件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Windows Win32K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子系統中的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ICOMP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函數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b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利用原理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：此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函數的執行流程可被觸發 </a:t>
                      </a:r>
                      <a:r>
                        <a:rPr lang="en-US" altLang="zh-TW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Double Free </a:t>
                      </a:r>
                      <a:r>
                        <a:rPr lang="zh-TW" altLang="en-US" sz="1600" kern="1200" baseline="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記憶體錯誤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。攻擊者能透過特定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win32k.sys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系統呼叫，強制核心物件重複釋放，再利用受控資料重新分配該記憶體以覆寫核心函數指標，最終取得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SYSTEM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權限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漏洞重現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因 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LLM 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的分析錯誤而失敗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。它誤判漏洞需要使用者互動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公開的 </a:t>
                      </a:r>
                      <a:r>
                        <a:rPr lang="en-US" altLang="zh-TW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PoC 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證實其為非互動式的強制雙重釋放</a:t>
                      </a:r>
                      <a:endParaRPr lang="en-US" altLang="zh-TW" sz="1600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285750" indent="-285750" algn="just">
                        <a:lnSpc>
                          <a:spcPts val="26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此外，</a:t>
                      </a:r>
                      <a:r>
                        <a:rPr lang="en-US" altLang="zh-TW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LLM </a:t>
                      </a:r>
                      <a:r>
                        <a:rPr lang="zh-TW" altLang="en-US" sz="1600" kern="1200" baseline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生成的程式試圖以高權限執行，此舉與漏洞需從低權限帳戶發動提權的目的相悖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，邏輯上並不成立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59474"/>
                  </a:ext>
                </a:extLst>
              </a:tr>
            </a:tbl>
          </a:graphicData>
        </a:graphic>
      </p:graphicFrame>
      <p:grpSp>
        <p:nvGrpSpPr>
          <p:cNvPr id="15" name="群組 14">
            <a:extLst>
              <a:ext uri="{FF2B5EF4-FFF2-40B4-BE49-F238E27FC236}">
                <a16:creationId xmlns:a16="http://schemas.microsoft.com/office/drawing/2014/main" id="{4EFA1BB9-EB54-A091-5EB2-EF3F8B1419AB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4517DFD4-D70F-3F00-CE27-3BBDA879AEC7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63BDC15F-DB96-D4C7-97CF-A6AEBCE67957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0AD4D0A-1461-692A-8DD4-6A4A4ABBA719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A45652FD-4807-50E2-0F3F-F45475C09DE8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3FECE3FB-41A6-F42E-A646-179004D3DE0C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5765DC57-AD8F-794C-B513-B41013597821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85CCDA9-D14A-DE32-E37E-60CEFEA0258C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56DB1F-3D3A-AF0E-69AE-1CB6A308FD98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F2107FD-5A36-9210-8B0B-9E76656A2F73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1696985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2046-8DC7-A3D3-736F-E7957717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A4322-4DD2-9152-DC33-852F4418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實驗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9C47F0DE-B458-A386-B6A8-68C573BF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10165934" cy="2715295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TW" sz="2000" dirty="0"/>
              <a:t>CVE </a:t>
            </a:r>
            <a:r>
              <a:rPr lang="zh-TW" altLang="en-US" sz="2000" dirty="0"/>
              <a:t>重現結果總結：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在漏洞類型與限制條件的差異方面，</a:t>
            </a:r>
            <a:r>
              <a:rPr lang="zh-TW" altLang="en-US" sz="1800" b="1" dirty="0"/>
              <a:t>本研究選取的案例成功重現的過程遠比漏洞描述複雜，並非僅透過命令列介面即可達成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b="1" dirty="0"/>
              <a:t>重現流程層面</a:t>
            </a:r>
            <a:r>
              <a:rPr lang="zh-TW" altLang="en-US" sz="1800" dirty="0"/>
              <a:t>：</a:t>
            </a:r>
            <a:r>
              <a:rPr lang="en-US" altLang="zh-TW" sz="1800" dirty="0">
                <a:highlight>
                  <a:srgbClr val="FFFF00"/>
                </a:highlight>
              </a:rPr>
              <a:t>AI </a:t>
            </a:r>
            <a:r>
              <a:rPr lang="zh-TW" altLang="en-US" sz="1800" dirty="0">
                <a:highlight>
                  <a:srgbClr val="FFFF00"/>
                </a:highlight>
              </a:rPr>
              <a:t>代理能夠提供合理的攻擊重現步驟，並能與使用者互動確認執行，顯示其在「知識性說明」與「程序性輔助」上的潛力</a:t>
            </a:r>
            <a:endParaRPr lang="en-US" altLang="zh-TW" sz="1800" dirty="0">
              <a:highlight>
                <a:srgbClr val="FFFF00"/>
              </a:highlight>
            </a:endParaRP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TW" sz="1800" b="1" dirty="0"/>
              <a:t>Exploit </a:t>
            </a:r>
            <a:r>
              <a:rPr lang="zh-TW" altLang="en-US" sz="1800" b="1" dirty="0"/>
              <a:t>程式層面</a:t>
            </a:r>
            <a:r>
              <a:rPr lang="zh-TW" altLang="en-US" sz="1800" dirty="0"/>
              <a:t>：</a:t>
            </a:r>
            <a:r>
              <a:rPr lang="en-US" altLang="zh-TW" sz="1800" dirty="0">
                <a:highlight>
                  <a:srgbClr val="FFFF00"/>
                </a:highlight>
              </a:rPr>
              <a:t>LLM </a:t>
            </a:r>
            <a:r>
              <a:rPr lang="zh-TW" altLang="en-US" sz="1800" dirty="0">
                <a:highlight>
                  <a:srgbClr val="FFFF00"/>
                </a:highlight>
              </a:rPr>
              <a:t>難以直接生成完整且可執行的 </a:t>
            </a:r>
            <a:r>
              <a:rPr lang="en-US" altLang="zh-TW" sz="1800" dirty="0">
                <a:highlight>
                  <a:srgbClr val="FFFF00"/>
                </a:highlight>
              </a:rPr>
              <a:t>exploit </a:t>
            </a:r>
            <a:r>
              <a:rPr lang="zh-TW" altLang="en-US" sz="1800" dirty="0">
                <a:highlight>
                  <a:srgbClr val="FFFF00"/>
                </a:highlight>
              </a:rPr>
              <a:t>程式</a:t>
            </a:r>
            <a:r>
              <a:rPr lang="zh-TW" altLang="en-US" sz="1800" dirty="0"/>
              <a:t>，多半停留在理論層級，與實務可用的程式存在顯著落差</a:t>
            </a:r>
            <a:endParaRPr lang="en-US" altLang="zh-TW" sz="18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FA0D6FF-C2EE-0446-2E42-135CEDC0F4E1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C8C096EC-8C58-4CC2-A95A-E436205AF51C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26B650CC-6DD6-2BCA-025A-DCE0D6D11293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613E09D-6AE9-7232-94DB-A6886ECE0B1A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AE5F69B-EC86-D142-ADEA-659DFDC86B12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B42076BB-9D55-1D3C-A950-D16D96CECD40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DF965E7F-94B7-4BA7-8A55-7B9B1D1D2EA0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A821D11-8A34-3BF8-89DB-B055D9456A74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4B754FF-5A0E-F894-7209-97A72224AAA5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7C3C97B-E24D-C568-CC21-4C404FCF788A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4E616AE-0AF5-121D-DFD3-8539B5F39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661777"/>
              </p:ext>
            </p:extLst>
          </p:nvPr>
        </p:nvGraphicFramePr>
        <p:xfrm>
          <a:off x="1734832" y="4025156"/>
          <a:ext cx="9072000" cy="216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3330830157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4015494341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3447425611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35357629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 </a:t>
                      </a: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編號</a:t>
                      </a:r>
                      <a:endParaRPr lang="zh-TW" sz="2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可執行性</a:t>
                      </a:r>
                      <a:endParaRPr lang="zh-TW" sz="2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完整性</a:t>
                      </a:r>
                      <a:endParaRPr lang="zh-TW" sz="2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評估分類</a:t>
                      </a:r>
                      <a:endParaRPr lang="zh-TW" sz="28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5244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CVE-2025-21420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否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是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部分</a:t>
                      </a:r>
                      <a:r>
                        <a:rPr lang="zh-TW" alt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重現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4828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CVE-2025-26633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否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是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kumimoji="0" lang="zh-TW" altLang="zh-TW" sz="18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部分</a:t>
                      </a:r>
                      <a:r>
                        <a:rPr kumimoji="0" lang="zh-TW" altLang="en-US" sz="18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重現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1091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CVE-2025-29824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否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是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kumimoji="0" lang="zh-TW" altLang="zh-TW" sz="18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部分</a:t>
                      </a:r>
                      <a:r>
                        <a:rPr kumimoji="0" lang="zh-TW" altLang="en-US" sz="18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重現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7168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CVE-2025-48799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否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是</a:t>
                      </a:r>
                      <a:endParaRPr lang="zh-TW" sz="2800" b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kumimoji="0" lang="zh-TW" altLang="zh-TW" sz="18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部分</a:t>
                      </a:r>
                      <a:r>
                        <a:rPr kumimoji="0" lang="zh-TW" altLang="en-US" sz="18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重現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9113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CVE-2025-49667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否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TW" sz="1800" b="0" kern="1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是</a:t>
                      </a:r>
                      <a:endParaRPr lang="zh-TW" sz="2800" b="0" kern="1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kumimoji="0" lang="zh-TW" altLang="zh-TW" sz="1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部分</a:t>
                      </a:r>
                      <a:r>
                        <a:rPr kumimoji="0" lang="zh-TW" altLang="en-US" sz="1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重現</a:t>
                      </a:r>
                      <a:endParaRPr lang="zh-TW" sz="28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55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44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AFC9-B4A2-41D9-D7F7-191AB714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E3E935-4516-FDDB-A911-8CA97DBA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討論與結論</a:t>
            </a:r>
          </a:p>
        </p:txBody>
      </p:sp>
      <p:sp>
        <p:nvSpPr>
          <p:cNvPr id="3" name="內容版面配置區 8">
            <a:extLst>
              <a:ext uri="{FF2B5EF4-FFF2-40B4-BE49-F238E27FC236}">
                <a16:creationId xmlns:a16="http://schemas.microsoft.com/office/drawing/2014/main" id="{4DF94EEA-E7B4-54EB-7C5C-88F168165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65" y="1142516"/>
            <a:ext cx="10165934" cy="4754315"/>
          </a:xfr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結論：</a:t>
            </a:r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本研究</a:t>
            </a:r>
            <a:r>
              <a:rPr lang="zh-TW" altLang="en-US" sz="1800" b="1" dirty="0"/>
              <a:t>示範 </a:t>
            </a:r>
            <a:r>
              <a:rPr lang="en-US" altLang="zh-TW" sz="1800" b="1" dirty="0"/>
              <a:t>LLM </a:t>
            </a:r>
            <a:r>
              <a:rPr lang="zh-TW" altLang="en-US" sz="1800" b="1" dirty="0"/>
              <a:t>驅動的 </a:t>
            </a:r>
            <a:r>
              <a:rPr lang="en-US" altLang="zh-TW" sz="1800" b="1" dirty="0"/>
              <a:t>AI </a:t>
            </a:r>
            <a:r>
              <a:rPr lang="zh-TW" altLang="en-US" sz="1800" b="1" dirty="0"/>
              <a:t>代理在漏洞重現自動化上具備可行性</a:t>
            </a:r>
            <a:r>
              <a:rPr lang="zh-TW" altLang="en-US" sz="1800" dirty="0"/>
              <a:t>：</a:t>
            </a:r>
            <a:r>
              <a:rPr lang="zh-TW" altLang="en-US" sz="1800" dirty="0">
                <a:highlight>
                  <a:srgbClr val="FFFF00"/>
                </a:highlight>
              </a:rPr>
              <a:t>能負責資訊蒐集、流程規劃與程序性輔助</a:t>
            </a:r>
            <a:endParaRPr lang="en-US" altLang="zh-TW" sz="1800" dirty="0"/>
          </a:p>
          <a:p>
            <a:pPr lvl="1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1800" dirty="0"/>
              <a:t>在本次五個案例中，雖</a:t>
            </a:r>
            <a:r>
              <a:rPr lang="zh-TW" altLang="en-US" sz="1800" b="1" dirty="0"/>
              <a:t>能生成合理的重現步驟與程式雛形，但尚未出現完全成功的可執行 </a:t>
            </a:r>
            <a:r>
              <a:rPr lang="en-US" altLang="zh-TW" sz="1800" b="1" dirty="0"/>
              <a:t>exploit</a:t>
            </a:r>
            <a:r>
              <a:rPr lang="zh-TW" altLang="en-US" sz="1800" dirty="0"/>
              <a:t>。失敗主因可歸納為：</a:t>
            </a:r>
            <a:endParaRPr lang="en-US" altLang="zh-TW" sz="1800" dirty="0"/>
          </a:p>
          <a:p>
            <a:pPr lvl="2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dirty="0"/>
              <a:t>嚴格且未滿足的環境前置條件</a:t>
            </a:r>
            <a:endParaRPr lang="en-US" altLang="zh-TW" dirty="0"/>
          </a:p>
          <a:p>
            <a:pPr lvl="2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</a:pPr>
            <a:r>
              <a:rPr lang="en-US" altLang="zh-TW" b="1" dirty="0"/>
              <a:t>LLM </a:t>
            </a:r>
            <a:r>
              <a:rPr lang="zh-TW" altLang="en-US" b="1" dirty="0"/>
              <a:t>預訓練資料</a:t>
            </a:r>
            <a:r>
              <a:rPr lang="zh-TW" altLang="en-US" b="1" dirty="0">
                <a:solidFill>
                  <a:srgbClr val="C00000"/>
                </a:solidFill>
              </a:rPr>
              <a:t>方面不足 </a:t>
            </a:r>
            <a:r>
              <a:rPr lang="en-US" altLang="zh-TW" b="1" dirty="0"/>
              <a:t>(</a:t>
            </a:r>
            <a:r>
              <a:rPr lang="zh-TW" altLang="en-US" b="1" dirty="0"/>
              <a:t>如完整且真實的 </a:t>
            </a:r>
            <a:r>
              <a:rPr lang="en-US" altLang="zh-TW" b="1" dirty="0"/>
              <a:t>exploit </a:t>
            </a:r>
            <a:r>
              <a:rPr lang="zh-TW" altLang="en-US" b="1" dirty="0"/>
              <a:t>程式、系統底層操作</a:t>
            </a:r>
            <a:r>
              <a:rPr lang="en-US" altLang="zh-TW" b="1" dirty="0"/>
              <a:t>)</a:t>
            </a:r>
            <a:endParaRPr lang="en-US" altLang="zh-TW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zh-TW" altLang="en-US" sz="2000" dirty="0"/>
              <a:t>未來兩大改進方向：</a:t>
            </a:r>
            <a:endParaRPr lang="en-US" altLang="zh-TW" sz="2000" dirty="0"/>
          </a:p>
          <a:p>
            <a:pPr marL="800100" lvl="1" indent="-3429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800" b="1" dirty="0"/>
              <a:t>系統層面</a:t>
            </a:r>
            <a:r>
              <a:rPr lang="zh-TW" altLang="en-US" sz="1800" dirty="0"/>
              <a:t>：</a:t>
            </a:r>
            <a:r>
              <a:rPr lang="zh-TW" altLang="en-US" sz="1800" dirty="0">
                <a:highlight>
                  <a:srgbClr val="FFFF00"/>
                </a:highlight>
              </a:rPr>
              <a:t>擴充 </a:t>
            </a:r>
            <a:r>
              <a:rPr lang="en-US" altLang="zh-TW" sz="1800" dirty="0">
                <a:highlight>
                  <a:srgbClr val="FFFF00"/>
                </a:highlight>
              </a:rPr>
              <a:t>MCP server </a:t>
            </a:r>
            <a:r>
              <a:rPr lang="zh-TW" altLang="en-US" sz="1800" dirty="0">
                <a:highlight>
                  <a:srgbClr val="FFFF00"/>
                </a:highlight>
              </a:rPr>
              <a:t>模組</a:t>
            </a:r>
            <a:r>
              <a:rPr lang="zh-TW" altLang="en-US" sz="1800" dirty="0"/>
              <a:t>，加入自動化環境檢測（</a:t>
            </a:r>
            <a:r>
              <a:rPr lang="en-US" altLang="zh-TW" sz="1800" dirty="0"/>
              <a:t>Windows </a:t>
            </a:r>
            <a:r>
              <a:rPr lang="zh-TW" altLang="en-US" sz="1800" dirty="0"/>
              <a:t>版本、已安裝補丁、磁碟</a:t>
            </a:r>
            <a:r>
              <a:rPr lang="en-US" altLang="zh-TW" sz="1800" dirty="0"/>
              <a:t>/</a:t>
            </a:r>
            <a:r>
              <a:rPr lang="zh-TW" altLang="en-US" sz="1800" dirty="0"/>
              <a:t>權限狀態等）與修正建議，以便前置評估與調整</a:t>
            </a:r>
            <a:endParaRPr lang="en-US" altLang="zh-TW" sz="1800" dirty="0"/>
          </a:p>
          <a:p>
            <a:pPr marL="800100" lvl="1" indent="-34290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800" b="1" dirty="0"/>
              <a:t>模型層面</a:t>
            </a:r>
            <a:r>
              <a:rPr lang="zh-TW" altLang="en-US" sz="1800" dirty="0"/>
              <a:t>：</a:t>
            </a:r>
            <a:r>
              <a:rPr lang="zh-TW" altLang="en-US" sz="1800" dirty="0">
                <a:highlight>
                  <a:srgbClr val="FFFF00"/>
                </a:highlight>
              </a:rPr>
              <a:t>對研究型 </a:t>
            </a:r>
            <a:r>
              <a:rPr lang="en-US" altLang="zh-TW" sz="1800" dirty="0">
                <a:highlight>
                  <a:srgbClr val="FFFF00"/>
                </a:highlight>
              </a:rPr>
              <a:t>LLM </a:t>
            </a:r>
            <a:r>
              <a:rPr lang="zh-TW" altLang="en-US" sz="1800" dirty="0">
                <a:highlight>
                  <a:srgbClr val="FFFF00"/>
                </a:highlight>
              </a:rPr>
              <a:t>進行定向微調</a:t>
            </a:r>
            <a:r>
              <a:rPr lang="zh-TW" altLang="en-US" sz="1800" dirty="0"/>
              <a:t>，導入漏洞技術分析、歷史 </a:t>
            </a:r>
            <a:r>
              <a:rPr lang="en-US" altLang="zh-TW" sz="1800" dirty="0"/>
              <a:t>exploit </a:t>
            </a:r>
            <a:r>
              <a:rPr lang="zh-TW" altLang="en-US" sz="1800" dirty="0"/>
              <a:t>範例與系統 </a:t>
            </a:r>
            <a:r>
              <a:rPr lang="en-US" altLang="zh-TW" sz="1800" dirty="0"/>
              <a:t>API </a:t>
            </a:r>
            <a:r>
              <a:rPr lang="zh-TW" altLang="en-US" sz="1800" dirty="0"/>
              <a:t>行為等資料，以提升生成可用 </a:t>
            </a:r>
            <a:r>
              <a:rPr lang="en-US" altLang="zh-TW" sz="1800" dirty="0"/>
              <a:t>PoC </a:t>
            </a:r>
            <a:r>
              <a:rPr lang="zh-TW" altLang="en-US" sz="1800" dirty="0"/>
              <a:t>的能力</a:t>
            </a:r>
            <a:endParaRPr lang="en-US" altLang="zh-TW" sz="18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10C38EC-C536-E3DA-86E5-3B5269440269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9733C8A9-B86A-A250-47AB-57EF8AFF062D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09E7F3F3-9CBF-6E38-73CF-36F0871D7678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A5C8312-6D82-0716-93BE-B3C159425C9C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DA2A094-65C8-2FD8-301A-60898C75DF4A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D5998ADD-70A7-1C6C-6066-490A72E6B1A8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C10426EC-93D5-7F3C-7C53-839E791CEA23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6E93DAE8-6C98-9A5D-A055-26FBF3728199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F447848-FCBF-9E1E-F5C6-4AABED83B5E2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ECACD6B5-2997-4537-EC08-0390ACA79B42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1130375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8A7D-F2C9-57BF-4594-A5ACCB53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群組 45">
            <a:extLst>
              <a:ext uri="{FF2B5EF4-FFF2-40B4-BE49-F238E27FC236}">
                <a16:creationId xmlns:a16="http://schemas.microsoft.com/office/drawing/2014/main" id="{31C23AFA-360A-0D7F-AA06-77785B551F5E}"/>
              </a:ext>
            </a:extLst>
          </p:cNvPr>
          <p:cNvGrpSpPr/>
          <p:nvPr/>
        </p:nvGrpSpPr>
        <p:grpSpPr>
          <a:xfrm>
            <a:off x="2938783" y="2720069"/>
            <a:ext cx="6314434" cy="3560266"/>
            <a:chOff x="5077839" y="0"/>
            <a:chExt cx="7315200" cy="4124528"/>
          </a:xfrm>
        </p:grpSpPr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C92DD929-0836-6F00-D34C-DE13709AC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7568" y="0"/>
              <a:ext cx="7298987" cy="4105681"/>
            </a:xfrm>
            <a:prstGeom prst="rect">
              <a:avLst/>
            </a:prstGeom>
            <a:ln>
              <a:noFill/>
            </a:ln>
            <a:effectLst>
              <a:softEdge rad="762000"/>
            </a:effectLst>
          </p:spPr>
        </p:pic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79B9BDA-6E74-279E-9969-23352C5BE8B4}"/>
                </a:ext>
              </a:extLst>
            </p:cNvPr>
            <p:cNvSpPr/>
            <p:nvPr/>
          </p:nvSpPr>
          <p:spPr>
            <a:xfrm>
              <a:off x="5077839" y="0"/>
              <a:ext cx="7315200" cy="4124528"/>
            </a:xfrm>
            <a:prstGeom prst="rect">
              <a:avLst/>
            </a:prstGeom>
            <a:solidFill>
              <a:srgbClr val="F2F2F2">
                <a:alpha val="8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81D7DF4-3C1B-D871-427F-14CAFC6D29AB}"/>
              </a:ext>
            </a:extLst>
          </p:cNvPr>
          <p:cNvSpPr/>
          <p:nvPr/>
        </p:nvSpPr>
        <p:spPr>
          <a:xfrm>
            <a:off x="2224110" y="1755745"/>
            <a:ext cx="6387893" cy="1115510"/>
          </a:xfrm>
          <a:prstGeom prst="roundRect">
            <a:avLst>
              <a:gd name="adj" fmla="val 3408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3078F5B-B0E2-B411-EF34-87198E69A09E}"/>
              </a:ext>
            </a:extLst>
          </p:cNvPr>
          <p:cNvSpPr txBox="1"/>
          <p:nvPr/>
        </p:nvSpPr>
        <p:spPr>
          <a:xfrm>
            <a:off x="2303884" y="1831174"/>
            <a:ext cx="6387893" cy="9787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1600" dirty="0"/>
              <a:t>所有實驗程式與資料已上傳至 </a:t>
            </a:r>
            <a:r>
              <a:rPr lang="en-US" altLang="zh-TW" sz="1600" dirty="0"/>
              <a:t>GitHub</a:t>
            </a:r>
            <a:r>
              <a:rPr lang="zh-TW" altLang="en-US" sz="1600" dirty="0"/>
              <a:t>：</a:t>
            </a:r>
            <a:r>
              <a:rPr lang="en-US" altLang="zh-TW" sz="1600" dirty="0">
                <a:hlinkClick r:id="rId4"/>
              </a:rPr>
              <a:t>github.com/qAq221102/LLM-Agent-Based-CVE-Automation-Experiments-and-Reflections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en-US" altLang="zh-TW" sz="1600" b="1" dirty="0"/>
              <a:t>Thank you for listening!!</a:t>
            </a:r>
            <a:endParaRPr lang="zh-TW" altLang="en-US" sz="1600" b="1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48AF636-885C-E847-C4D7-F2C9BFB7CDDC}"/>
              </a:ext>
            </a:extLst>
          </p:cNvPr>
          <p:cNvSpPr/>
          <p:nvPr/>
        </p:nvSpPr>
        <p:spPr>
          <a:xfrm>
            <a:off x="2224110" y="5187507"/>
            <a:ext cx="7661472" cy="50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5D4BC924-AD53-C5E3-AE5E-3CF3506DF71C}"/>
              </a:ext>
            </a:extLst>
          </p:cNvPr>
          <p:cNvSpPr/>
          <p:nvPr/>
        </p:nvSpPr>
        <p:spPr>
          <a:xfrm>
            <a:off x="9427352" y="5295507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1793B1-9803-D263-CEDA-180AEBFC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Q </a:t>
            </a:r>
            <a:r>
              <a:rPr lang="en-US" altLang="zh-TW" sz="2400" dirty="0"/>
              <a:t>&amp;</a:t>
            </a:r>
            <a:r>
              <a:rPr lang="en-US" altLang="zh-TW" dirty="0"/>
              <a:t> A</a:t>
            </a:r>
            <a:endParaRPr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CB0BEB4B-1815-F795-9C4D-C4482C0FD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352" y="5331507"/>
            <a:ext cx="216000" cy="216000"/>
          </a:xfrm>
        </p:spPr>
      </p:pic>
      <p:sp>
        <p:nvSpPr>
          <p:cNvPr id="18" name="加號 17">
            <a:extLst>
              <a:ext uri="{FF2B5EF4-FFF2-40B4-BE49-F238E27FC236}">
                <a16:creationId xmlns:a16="http://schemas.microsoft.com/office/drawing/2014/main" id="{FDC867D2-F6AD-876A-3ABE-14113BFD2495}"/>
              </a:ext>
            </a:extLst>
          </p:cNvPr>
          <p:cNvSpPr/>
          <p:nvPr/>
        </p:nvSpPr>
        <p:spPr>
          <a:xfrm>
            <a:off x="2362782" y="5295507"/>
            <a:ext cx="288000" cy="288000"/>
          </a:xfrm>
          <a:prstGeom prst="mathPlus">
            <a:avLst>
              <a:gd name="adj1" fmla="val 10583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04136C6-5924-7C1C-9D33-BAE56CD80D82}"/>
              </a:ext>
            </a:extLst>
          </p:cNvPr>
          <p:cNvSpPr txBox="1"/>
          <p:nvPr/>
        </p:nvSpPr>
        <p:spPr>
          <a:xfrm>
            <a:off x="2650782" y="5268691"/>
            <a:ext cx="2657166" cy="341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詢問任何問題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14B152C7-E2A4-D66F-E244-5DB5904976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352" y="5295507"/>
            <a:ext cx="288000" cy="28800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4E1549C8-93DD-6DBD-1C2A-AD484B2E48C8}"/>
              </a:ext>
            </a:extLst>
          </p:cNvPr>
          <p:cNvGrpSpPr/>
          <p:nvPr/>
        </p:nvGrpSpPr>
        <p:grpSpPr>
          <a:xfrm>
            <a:off x="9160342" y="3282967"/>
            <a:ext cx="722328" cy="432000"/>
            <a:chOff x="9402206" y="2581178"/>
            <a:chExt cx="722328" cy="432000"/>
          </a:xfrm>
        </p:grpSpPr>
        <p:sp>
          <p:nvSpPr>
            <p:cNvPr id="25" name="矩形: 圓角 24">
              <a:extLst>
                <a:ext uri="{FF2B5EF4-FFF2-40B4-BE49-F238E27FC236}">
                  <a16:creationId xmlns:a16="http://schemas.microsoft.com/office/drawing/2014/main" id="{2891C04A-23FA-20A9-ECA7-834D8DAAA632}"/>
                </a:ext>
              </a:extLst>
            </p:cNvPr>
            <p:cNvSpPr/>
            <p:nvPr/>
          </p:nvSpPr>
          <p:spPr>
            <a:xfrm>
              <a:off x="9402206" y="2581178"/>
              <a:ext cx="722328" cy="432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976461D3-8E19-7266-EDB7-E99A97300AC8}"/>
                </a:ext>
              </a:extLst>
            </p:cNvPr>
            <p:cNvSpPr txBox="1"/>
            <p:nvPr/>
          </p:nvSpPr>
          <p:spPr>
            <a:xfrm>
              <a:off x="9547005" y="2612512"/>
              <a:ext cx="432730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spAutoFit/>
            </a:bodyPr>
            <a:lstStyle>
              <a:lvl1pPr>
                <a:lnSpc>
                  <a:spcPct val="90000"/>
                </a:lnSpc>
                <a:spcBef>
                  <a:spcPct val="0"/>
                </a:spcBef>
                <a:buNone/>
                <a:defRPr sz="2800" baseline="0">
                  <a:latin typeface="Times New Roman" panose="02020603050405020304" pitchFamily="18" charset="0"/>
                  <a:ea typeface="標楷體" panose="03000509000000000000" pitchFamily="65" charset="-120"/>
                  <a:cs typeface="+mj-cs"/>
                </a:defRPr>
              </a:lvl1pPr>
            </a:lstStyle>
            <a:p>
              <a:r>
                <a:rPr lang="en-US" altLang="zh-TW" sz="2000" b="1" dirty="0"/>
                <a:t>…</a:t>
              </a:r>
              <a:endParaRPr lang="zh-TW" altLang="en-US" sz="2000" b="1" dirty="0"/>
            </a:p>
          </p:txBody>
        </p:sp>
      </p:grpSp>
      <p:pic>
        <p:nvPicPr>
          <p:cNvPr id="32" name="圖片 31">
            <a:extLst>
              <a:ext uri="{FF2B5EF4-FFF2-40B4-BE49-F238E27FC236}">
                <a16:creationId xmlns:a16="http://schemas.microsoft.com/office/drawing/2014/main" id="{504942D5-A40C-539B-48BB-3A44044A8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504" y="2493551"/>
            <a:ext cx="288000" cy="288000"/>
          </a:xfrm>
          <a:prstGeom prst="rect">
            <a:avLst/>
          </a:prstGeom>
        </p:spPr>
      </p:pic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64AE812E-63CA-F904-9673-CB8DCBA43A69}"/>
              </a:ext>
            </a:extLst>
          </p:cNvPr>
          <p:cNvSpPr/>
          <p:nvPr/>
        </p:nvSpPr>
        <p:spPr>
          <a:xfrm>
            <a:off x="2082000" y="1576567"/>
            <a:ext cx="8028000" cy="4276800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315AB4D9-D637-F425-D73B-5D6099D80322}"/>
              </a:ext>
            </a:extLst>
          </p:cNvPr>
          <p:cNvGrpSpPr/>
          <p:nvPr/>
        </p:nvGrpSpPr>
        <p:grpSpPr>
          <a:xfrm>
            <a:off x="1595855" y="122268"/>
            <a:ext cx="1296000" cy="252000"/>
            <a:chOff x="177600" y="108660"/>
            <a:chExt cx="866400" cy="289560"/>
          </a:xfrm>
          <a:solidFill>
            <a:srgbClr val="B9FFAF"/>
          </a:solidFill>
        </p:grpSpPr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E33E8716-0202-D245-C31A-B39E7920424F}"/>
                </a:ext>
              </a:extLst>
            </p:cNvPr>
            <p:cNvSpPr/>
            <p:nvPr/>
          </p:nvSpPr>
          <p:spPr>
            <a:xfrm rot="10800000">
              <a:off x="609600" y="108660"/>
              <a:ext cx="434400" cy="289560"/>
            </a:xfrm>
            <a:prstGeom prst="roundRect">
              <a:avLst>
                <a:gd name="adj" fmla="val 1842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CBAFC809-94F2-832C-B3A1-6E243A0EBA7A}"/>
                </a:ext>
              </a:extLst>
            </p:cNvPr>
            <p:cNvSpPr/>
            <p:nvPr/>
          </p:nvSpPr>
          <p:spPr>
            <a:xfrm>
              <a:off x="177600" y="108660"/>
              <a:ext cx="864000" cy="2895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前言</a:t>
              </a:r>
            </a:p>
          </p:txBody>
        </p:sp>
      </p:grp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1877A64C-2C44-1C98-7672-8CB400C75162}"/>
              </a:ext>
            </a:extLst>
          </p:cNvPr>
          <p:cNvSpPr/>
          <p:nvPr/>
        </p:nvSpPr>
        <p:spPr>
          <a:xfrm>
            <a:off x="2945393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3368506B-BE96-E65A-1778-B626ED7F43F1}"/>
              </a:ext>
            </a:extLst>
          </p:cNvPr>
          <p:cNvGrpSpPr/>
          <p:nvPr/>
        </p:nvGrpSpPr>
        <p:grpSpPr>
          <a:xfrm>
            <a:off x="8343545" y="117164"/>
            <a:ext cx="1296000" cy="252000"/>
            <a:chOff x="3763863" y="108659"/>
            <a:chExt cx="864000" cy="289560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6B7BBCE1-00EE-B514-70A0-6ABD19B3CB43}"/>
                </a:ext>
              </a:extLst>
            </p:cNvPr>
            <p:cNvSpPr/>
            <p:nvPr/>
          </p:nvSpPr>
          <p:spPr>
            <a:xfrm rot="10800000">
              <a:off x="3763863" y="108659"/>
              <a:ext cx="434400" cy="289560"/>
            </a:xfrm>
            <a:prstGeom prst="roundRect">
              <a:avLst>
                <a:gd name="adj" fmla="val 18421"/>
              </a:avLst>
            </a:prstGeom>
            <a:solidFill>
              <a:srgbClr val="B9F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42" name="矩形: 圓角 41">
              <a:extLst>
                <a:ext uri="{FF2B5EF4-FFF2-40B4-BE49-F238E27FC236}">
                  <a16:creationId xmlns:a16="http://schemas.microsoft.com/office/drawing/2014/main" id="{FE092488-15A5-5D60-71FD-96E692C2C9C4}"/>
                </a:ext>
              </a:extLst>
            </p:cNvPr>
            <p:cNvSpPr/>
            <p:nvPr/>
          </p:nvSpPr>
          <p:spPr>
            <a:xfrm>
              <a:off x="3763863" y="108659"/>
              <a:ext cx="864000" cy="289560"/>
            </a:xfrm>
            <a:prstGeom prst="roundRect">
              <a:avLst>
                <a:gd name="adj" fmla="val 50000"/>
              </a:avLst>
            </a:prstGeom>
            <a:solidFill>
              <a:srgbClr val="B9F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Q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&amp;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 </a:t>
              </a:r>
              <a:r>
                <a:rPr lang="en-US" altLang="zh-TW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A</a:t>
              </a:r>
              <a:endPara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56609E85-A8CF-A124-D16A-23B3618F84B5}"/>
              </a:ext>
            </a:extLst>
          </p:cNvPr>
          <p:cNvSpPr/>
          <p:nvPr/>
        </p:nvSpPr>
        <p:spPr>
          <a:xfrm>
            <a:off x="4294931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方法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79EFE77F-E803-208B-D5C7-F26A50D9A719}"/>
              </a:ext>
            </a:extLst>
          </p:cNvPr>
          <p:cNvSpPr/>
          <p:nvPr/>
        </p:nvSpPr>
        <p:spPr>
          <a:xfrm>
            <a:off x="5644469" y="122268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DA7253DA-2FBB-9DC0-DCBE-5A5F3DFC70A6}"/>
              </a:ext>
            </a:extLst>
          </p:cNvPr>
          <p:cNvSpPr/>
          <p:nvPr/>
        </p:nvSpPr>
        <p:spPr>
          <a:xfrm>
            <a:off x="6994007" y="117164"/>
            <a:ext cx="1296000" cy="252000"/>
          </a:xfrm>
          <a:prstGeom prst="roundRect">
            <a:avLst>
              <a:gd name="adj" fmla="val 18421"/>
            </a:avLst>
          </a:prstGeom>
          <a:solidFill>
            <a:srgbClr val="B9FF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討論與結論</a:t>
            </a:r>
          </a:p>
        </p:txBody>
      </p:sp>
    </p:spTree>
    <p:extLst>
      <p:ext uri="{BB962C8B-B14F-4D97-AF65-F5344CB8AC3E}">
        <p14:creationId xmlns:p14="http://schemas.microsoft.com/office/powerpoint/2010/main" val="214647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3924</TotalTime>
  <Words>6119</Words>
  <Application>Microsoft Office PowerPoint</Application>
  <PresentationFormat>寬螢幕</PresentationFormat>
  <Paragraphs>743</Paragraphs>
  <Slides>30</Slides>
  <Notes>30</Notes>
  <HiddenSlides>3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標楷體</vt:lpstr>
      <vt:lpstr>Arial</vt:lpstr>
      <vt:lpstr>Calibri</vt:lpstr>
      <vt:lpstr>Times New Roman</vt:lpstr>
      <vt:lpstr>Wingdings</vt:lpstr>
      <vt:lpstr>Office 佈景主題</vt:lpstr>
      <vt:lpstr>LLM 代理人基礎的 CVE 自動化： 嘗試與反思</vt:lpstr>
      <vt:lpstr>前言</vt:lpstr>
      <vt:lpstr>前言</vt:lpstr>
      <vt:lpstr>文獻探討</vt:lpstr>
      <vt:lpstr>文獻探討</vt:lpstr>
      <vt:lpstr>文獻探討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方法</vt:lpstr>
      <vt:lpstr>實驗</vt:lpstr>
      <vt:lpstr>實驗</vt:lpstr>
      <vt:lpstr>實驗</vt:lpstr>
      <vt:lpstr>實驗</vt:lpstr>
      <vt:lpstr>實驗</vt:lpstr>
      <vt:lpstr>實驗</vt:lpstr>
      <vt:lpstr>實驗</vt:lpstr>
      <vt:lpstr>討論與結論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代理人基礎的 CVE 自動化： 嘗試與反思</dc:title>
  <dc:creator>Eason</dc:creator>
  <cp:lastModifiedBy>Eason</cp:lastModifiedBy>
  <cp:revision>38</cp:revision>
  <dcterms:created xsi:type="dcterms:W3CDTF">2025-10-06T09:30:36Z</dcterms:created>
  <dcterms:modified xsi:type="dcterms:W3CDTF">2025-10-23T00:43:07Z</dcterms:modified>
</cp:coreProperties>
</file>